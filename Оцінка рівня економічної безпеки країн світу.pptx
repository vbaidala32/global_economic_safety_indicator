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ublic Sans" charset="1" panose="00000000000000000000"/>
      <p:regular r:id="rId22"/>
    </p:embeddedFont>
    <p:embeddedFont>
      <p:font typeface="Public Sans Bold" charset="1" panose="00000000000000000000"/>
      <p:regular r:id="rId23"/>
    </p:embeddedFont>
    <p:embeddedFont>
      <p:font typeface="Public Sans Medium" charset="1" panose="00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3924" y="6971250"/>
            <a:ext cx="21755848" cy="4174349"/>
            <a:chOff x="0" y="0"/>
            <a:chExt cx="7796805" cy="149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6805" cy="1495993"/>
            </a:xfrm>
            <a:custGeom>
              <a:avLst/>
              <a:gdLst/>
              <a:ahLst/>
              <a:cxnLst/>
              <a:rect r="r" b="b" t="t" l="l"/>
              <a:pathLst>
                <a:path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08245" y="5376693"/>
            <a:ext cx="20104489" cy="5523017"/>
          </a:xfrm>
          <a:custGeom>
            <a:avLst/>
            <a:gdLst/>
            <a:ahLst/>
            <a:cxnLst/>
            <a:rect r="r" b="b" t="t" l="l"/>
            <a:pathLst>
              <a:path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363" r="-9035" b="-205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135719" y="533271"/>
            <a:ext cx="12016563" cy="417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51"/>
              </a:lnSpc>
            </a:pPr>
            <a:r>
              <a:rPr lang="en-US" sz="11199" spc="-918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Оцінка рівня економічної безпеки країн світу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83687" y="5216407"/>
            <a:ext cx="13120627" cy="917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8"/>
              </a:lnSpc>
            </a:pPr>
            <a:r>
              <a:rPr lang="en-US" sz="4361" spc="-35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Виконали студентки: Герасименко К. та Байдала В.</a:t>
            </a:r>
          </a:p>
          <a:p>
            <a:pPr algn="ctr" marL="0" indent="0" lvl="0">
              <a:lnSpc>
                <a:spcPts val="3358"/>
              </a:lnSpc>
              <a:spcBef>
                <a:spcPct val="0"/>
              </a:spcBef>
            </a:pPr>
            <a:r>
              <a:rPr lang="en-US" sz="4361" spc="-357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Група: ЗК-32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914402" y="3224371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7392287">
            <a:off x="-1104276" y="-395603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46196" y="1351924"/>
            <a:ext cx="14395608" cy="7583153"/>
            <a:chOff x="0" y="0"/>
            <a:chExt cx="3791436" cy="1997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791436" cy="1997209"/>
            </a:xfrm>
            <a:custGeom>
              <a:avLst/>
              <a:gdLst/>
              <a:ahLst/>
              <a:cxnLst/>
              <a:rect r="r" b="b" t="t" l="l"/>
              <a:pathLst>
                <a:path h="1997209" w="3791436">
                  <a:moveTo>
                    <a:pt x="8067" y="0"/>
                  </a:moveTo>
                  <a:lnTo>
                    <a:pt x="3783369" y="0"/>
                  </a:lnTo>
                  <a:cubicBezTo>
                    <a:pt x="3785508" y="0"/>
                    <a:pt x="3787560" y="850"/>
                    <a:pt x="3789073" y="2363"/>
                  </a:cubicBezTo>
                  <a:cubicBezTo>
                    <a:pt x="3790586" y="3876"/>
                    <a:pt x="3791436" y="5927"/>
                    <a:pt x="3791436" y="8067"/>
                  </a:cubicBezTo>
                  <a:lnTo>
                    <a:pt x="3791436" y="1989142"/>
                  </a:lnTo>
                  <a:cubicBezTo>
                    <a:pt x="3791436" y="1991281"/>
                    <a:pt x="3790586" y="1993333"/>
                    <a:pt x="3789073" y="1994846"/>
                  </a:cubicBezTo>
                  <a:cubicBezTo>
                    <a:pt x="3787560" y="1996359"/>
                    <a:pt x="3785508" y="1997209"/>
                    <a:pt x="3783369" y="1997209"/>
                  </a:cubicBezTo>
                  <a:lnTo>
                    <a:pt x="8067" y="1997209"/>
                  </a:lnTo>
                  <a:cubicBezTo>
                    <a:pt x="5927" y="1997209"/>
                    <a:pt x="3876" y="1996359"/>
                    <a:pt x="2363" y="1994846"/>
                  </a:cubicBezTo>
                  <a:cubicBezTo>
                    <a:pt x="850" y="1993333"/>
                    <a:pt x="0" y="1991281"/>
                    <a:pt x="0" y="1989142"/>
                  </a:cubicBezTo>
                  <a:lnTo>
                    <a:pt x="0" y="8067"/>
                  </a:lnTo>
                  <a:cubicBezTo>
                    <a:pt x="0" y="5927"/>
                    <a:pt x="850" y="3876"/>
                    <a:pt x="2363" y="2363"/>
                  </a:cubicBezTo>
                  <a:cubicBezTo>
                    <a:pt x="3876" y="850"/>
                    <a:pt x="5927" y="0"/>
                    <a:pt x="8067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3791436" cy="191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47074" y="1904229"/>
            <a:ext cx="9993853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Мета дослідження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04554" y="3360552"/>
            <a:ext cx="10078892" cy="4828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10"/>
              </a:lnSpc>
              <a:spcBef>
                <a:spcPct val="0"/>
              </a:spcBef>
            </a:pPr>
            <a:r>
              <a:rPr lang="en-US" b="true" sz="2230" spc="133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Мета:</a:t>
            </a:r>
            <a:r>
              <a:rPr lang="en-US" b="true" sz="2230" spc="133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</a:t>
            </a: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створити комплексний індекс, що відображає стійкість і стабільність економік світу.</a:t>
            </a:r>
          </a:p>
          <a:p>
            <a:pPr algn="ctr" marL="0" indent="0" lvl="0">
              <a:lnSpc>
                <a:spcPts val="3010"/>
              </a:lnSpc>
              <a:spcBef>
                <a:spcPct val="0"/>
              </a:spcBef>
            </a:pPr>
          </a:p>
          <a:p>
            <a:pPr algn="ctr" marL="0" indent="0" lvl="0">
              <a:lnSpc>
                <a:spcPts val="3010"/>
              </a:lnSpc>
              <a:spcBef>
                <a:spcPct val="0"/>
              </a:spcBef>
            </a:pPr>
            <a:r>
              <a:rPr lang="en-US" b="true" sz="2230" spc="133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Завдання:</a:t>
            </a:r>
          </a:p>
          <a:p>
            <a:pPr algn="l" marL="481497" indent="-240749" lvl="1">
              <a:lnSpc>
                <a:spcPts val="3010"/>
              </a:lnSpc>
              <a:buFont typeface="Arial"/>
              <a:buChar char="•"/>
            </a:pP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зібрати дані Світового банку за 2005–2020 рр.;</a:t>
            </a:r>
          </a:p>
          <a:p>
            <a:pPr algn="l" marL="481497" indent="-240749" lvl="1">
              <a:lnSpc>
                <a:spcPts val="3010"/>
              </a:lnSpc>
              <a:buFont typeface="Arial"/>
              <a:buChar char="•"/>
            </a:pP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очистити дані та заповнити пропуски;</a:t>
            </a:r>
          </a:p>
          <a:p>
            <a:pPr algn="l" marL="481497" indent="-240749" lvl="1">
              <a:lnSpc>
                <a:spcPts val="3010"/>
              </a:lnSpc>
              <a:buFont typeface="Arial"/>
              <a:buChar char="•"/>
            </a:pP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провести кореляційний аналіз;</a:t>
            </a:r>
          </a:p>
          <a:p>
            <a:pPr algn="l" marL="481497" indent="-240749" lvl="1">
              <a:lnSpc>
                <a:spcPts val="3010"/>
              </a:lnSpc>
              <a:buFont typeface="Arial"/>
              <a:buChar char="•"/>
            </a:pP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виявити структуру індикаторів через PCA;</a:t>
            </a:r>
          </a:p>
          <a:p>
            <a:pPr algn="l" marL="481497" indent="-240749" lvl="1">
              <a:lnSpc>
                <a:spcPts val="3010"/>
              </a:lnSpc>
              <a:buFont typeface="Arial"/>
              <a:buChar char="•"/>
            </a:pP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нормалізувати всі змінні;</a:t>
            </a:r>
          </a:p>
          <a:p>
            <a:pPr algn="l" marL="481497" indent="-240749" lvl="1">
              <a:lnSpc>
                <a:spcPts val="3010"/>
              </a:lnSpc>
              <a:buFont typeface="Arial"/>
              <a:buChar char="•"/>
            </a:pP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побудувати інтегральний індекс;</a:t>
            </a:r>
          </a:p>
          <a:p>
            <a:pPr algn="l" marL="481497" indent="-240749" lvl="1">
              <a:lnSpc>
                <a:spcPts val="3010"/>
              </a:lnSpc>
              <a:buFont typeface="Arial"/>
              <a:buChar char="•"/>
            </a:pP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ранжувати країни;</a:t>
            </a:r>
          </a:p>
          <a:p>
            <a:pPr algn="l" marL="481497" indent="-240749" lvl="1">
              <a:lnSpc>
                <a:spcPts val="3010"/>
              </a:lnSpc>
              <a:buFont typeface="Arial"/>
              <a:buChar char="•"/>
            </a:pPr>
            <a:r>
              <a:rPr lang="en-US" b="true" sz="2230" spc="133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провести оцінку чутливості моделі.</a:t>
            </a:r>
          </a:p>
          <a:p>
            <a:pPr algn="ctr" marL="0" indent="0" lvl="0">
              <a:lnSpc>
                <a:spcPts val="3010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002417" y="-1468683"/>
            <a:ext cx="2285583" cy="3719144"/>
          </a:xfrm>
          <a:custGeom>
            <a:avLst/>
            <a:gdLst/>
            <a:ahLst/>
            <a:cxnLst/>
            <a:rect r="r" b="b" t="t" l="l"/>
            <a:pathLst>
              <a:path h="3719144" w="2285583">
                <a:moveTo>
                  <a:pt x="0" y="0"/>
                </a:moveTo>
                <a:lnTo>
                  <a:pt x="2285583" y="0"/>
                </a:lnTo>
                <a:lnTo>
                  <a:pt x="2285583" y="3719145"/>
                </a:lnTo>
                <a:lnTo>
                  <a:pt x="0" y="37191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6412948">
            <a:off x="-663237" y="9037597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4" y="0"/>
                </a:lnTo>
                <a:lnTo>
                  <a:pt x="3383874" y="2848607"/>
                </a:lnTo>
                <a:lnTo>
                  <a:pt x="0" y="28486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878324" y="2535995"/>
            <a:ext cx="5754494" cy="5215010"/>
          </a:xfrm>
          <a:custGeom>
            <a:avLst/>
            <a:gdLst/>
            <a:ahLst/>
            <a:cxnLst/>
            <a:rect r="r" b="b" t="t" l="l"/>
            <a:pathLst>
              <a:path h="5215010" w="5754494">
                <a:moveTo>
                  <a:pt x="0" y="0"/>
                </a:moveTo>
                <a:lnTo>
                  <a:pt x="5754494" y="0"/>
                </a:lnTo>
                <a:lnTo>
                  <a:pt x="5754494" y="5215010"/>
                </a:lnTo>
                <a:lnTo>
                  <a:pt x="0" y="52150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0185" y="1568255"/>
            <a:ext cx="7519837" cy="2125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Теоретичні основи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40185" y="3746692"/>
            <a:ext cx="7519837" cy="5000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119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Економічна</a:t>
            </a:r>
            <a:r>
              <a:rPr lang="en-US" b="true" sz="1999" spc="119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безпека</a:t>
            </a: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- це стан економіки, який забезпечує: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стійке економічне зростання;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низьку вразливість до шоків;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макрофінансову стабільність;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можливість прогнозованого розвитку;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стабільність добробуту населення.</a:t>
            </a:r>
          </a:p>
          <a:p>
            <a:pPr algn="just">
              <a:lnSpc>
                <a:spcPts val="2699"/>
              </a:lnSpc>
            </a:pP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  <a:r>
              <a:rPr lang="en-US" b="true" sz="1999" spc="119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Міжнародні підходи, на яких базується модель: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OECD Economic Resilience Framework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World Bank vulnerability indicators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IMF Financial Soundness Indicators</a:t>
            </a:r>
          </a:p>
          <a:p>
            <a:pPr algn="just" marL="431799" indent="-215899" lvl="1">
              <a:lnSpc>
                <a:spcPts val="2699"/>
              </a:lnSpc>
              <a:buFont typeface="Arial"/>
              <a:buChar char="•"/>
            </a:pPr>
            <a:r>
              <a:rPr lang="en-US" b="true" sz="1999" spc="119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Європейська Комісія - Social &amp; Economic Security Index</a:t>
            </a:r>
          </a:p>
          <a:p>
            <a:pPr algn="just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002417" y="-828898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5"/>
                </a:lnTo>
                <a:lnTo>
                  <a:pt x="0" y="27712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412948">
            <a:off x="7068085" y="9022289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7"/>
                </a:lnTo>
                <a:lnTo>
                  <a:pt x="0" y="28486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45630" y="1583388"/>
            <a:ext cx="9596741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b="true" sz="8499" spc="-696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Індикатори моделі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564901" y="4412344"/>
            <a:ext cx="2758054" cy="4742007"/>
            <a:chOff x="0" y="0"/>
            <a:chExt cx="772466" cy="13281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72466" cy="1328125"/>
            </a:xfrm>
            <a:custGeom>
              <a:avLst/>
              <a:gdLst/>
              <a:ahLst/>
              <a:cxnLst/>
              <a:rect r="r" b="b" t="t" l="l"/>
              <a:pathLst>
                <a:path h="1328125" w="772466">
                  <a:moveTo>
                    <a:pt x="42105" y="0"/>
                  </a:moveTo>
                  <a:lnTo>
                    <a:pt x="730361" y="0"/>
                  </a:lnTo>
                  <a:cubicBezTo>
                    <a:pt x="741528" y="0"/>
                    <a:pt x="752238" y="4436"/>
                    <a:pt x="760134" y="12332"/>
                  </a:cubicBezTo>
                  <a:cubicBezTo>
                    <a:pt x="768030" y="20229"/>
                    <a:pt x="772466" y="30938"/>
                    <a:pt x="772466" y="42105"/>
                  </a:cubicBezTo>
                  <a:lnTo>
                    <a:pt x="772466" y="1286020"/>
                  </a:lnTo>
                  <a:cubicBezTo>
                    <a:pt x="772466" y="1297187"/>
                    <a:pt x="768030" y="1307897"/>
                    <a:pt x="760134" y="1315793"/>
                  </a:cubicBezTo>
                  <a:cubicBezTo>
                    <a:pt x="752238" y="1323689"/>
                    <a:pt x="741528" y="1328125"/>
                    <a:pt x="730361" y="1328125"/>
                  </a:cubicBezTo>
                  <a:lnTo>
                    <a:pt x="42105" y="1328125"/>
                  </a:lnTo>
                  <a:cubicBezTo>
                    <a:pt x="30938" y="1328125"/>
                    <a:pt x="20229" y="1323689"/>
                    <a:pt x="12332" y="1315793"/>
                  </a:cubicBezTo>
                  <a:cubicBezTo>
                    <a:pt x="4436" y="1307897"/>
                    <a:pt x="0" y="1297187"/>
                    <a:pt x="0" y="1286020"/>
                  </a:cubicBezTo>
                  <a:lnTo>
                    <a:pt x="0" y="42105"/>
                  </a:lnTo>
                  <a:cubicBezTo>
                    <a:pt x="0" y="30938"/>
                    <a:pt x="4436" y="20229"/>
                    <a:pt x="12332" y="12332"/>
                  </a:cubicBezTo>
                  <a:cubicBezTo>
                    <a:pt x="20229" y="4436"/>
                    <a:pt x="30938" y="0"/>
                    <a:pt x="4210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772466" cy="124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67703" y="5915883"/>
            <a:ext cx="1713566" cy="2493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00"/>
              </a:lnSpc>
              <a:spcBef>
                <a:spcPct val="0"/>
              </a:spcBef>
            </a:pPr>
            <a:r>
              <a:rPr lang="en-US" b="true" sz="1630" spc="97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Відкритість</a:t>
            </a:r>
            <a:r>
              <a:rPr lang="en-US" b="true" sz="1630" spc="9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економіки, рівень участі в міжнародній торгівлі. Показує інтегрованість у глобальні ринки.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715" y="4699162"/>
            <a:ext cx="1940427" cy="90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3600" spc="-295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Trade (% of GDP)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442155" y="4412344"/>
            <a:ext cx="2758054" cy="4742007"/>
            <a:chOff x="0" y="0"/>
            <a:chExt cx="772466" cy="1328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2466" cy="1328125"/>
            </a:xfrm>
            <a:custGeom>
              <a:avLst/>
              <a:gdLst/>
              <a:ahLst/>
              <a:cxnLst/>
              <a:rect r="r" b="b" t="t" l="l"/>
              <a:pathLst>
                <a:path h="1328125" w="772466">
                  <a:moveTo>
                    <a:pt x="42105" y="0"/>
                  </a:moveTo>
                  <a:lnTo>
                    <a:pt x="730361" y="0"/>
                  </a:lnTo>
                  <a:cubicBezTo>
                    <a:pt x="741528" y="0"/>
                    <a:pt x="752238" y="4436"/>
                    <a:pt x="760134" y="12332"/>
                  </a:cubicBezTo>
                  <a:cubicBezTo>
                    <a:pt x="768030" y="20229"/>
                    <a:pt x="772466" y="30938"/>
                    <a:pt x="772466" y="42105"/>
                  </a:cubicBezTo>
                  <a:lnTo>
                    <a:pt x="772466" y="1286020"/>
                  </a:lnTo>
                  <a:cubicBezTo>
                    <a:pt x="772466" y="1297187"/>
                    <a:pt x="768030" y="1307897"/>
                    <a:pt x="760134" y="1315793"/>
                  </a:cubicBezTo>
                  <a:cubicBezTo>
                    <a:pt x="752238" y="1323689"/>
                    <a:pt x="741528" y="1328125"/>
                    <a:pt x="730361" y="1328125"/>
                  </a:cubicBezTo>
                  <a:lnTo>
                    <a:pt x="42105" y="1328125"/>
                  </a:lnTo>
                  <a:cubicBezTo>
                    <a:pt x="30938" y="1328125"/>
                    <a:pt x="20229" y="1323689"/>
                    <a:pt x="12332" y="1315793"/>
                  </a:cubicBezTo>
                  <a:cubicBezTo>
                    <a:pt x="4436" y="1307897"/>
                    <a:pt x="0" y="1297187"/>
                    <a:pt x="0" y="1286020"/>
                  </a:cubicBezTo>
                  <a:lnTo>
                    <a:pt x="0" y="42105"/>
                  </a:lnTo>
                  <a:cubicBezTo>
                    <a:pt x="0" y="30938"/>
                    <a:pt x="4436" y="20229"/>
                    <a:pt x="12332" y="12332"/>
                  </a:cubicBezTo>
                  <a:cubicBezTo>
                    <a:pt x="20229" y="4436"/>
                    <a:pt x="30938" y="0"/>
                    <a:pt x="4210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85725"/>
              <a:ext cx="772466" cy="124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831527" y="5925408"/>
            <a:ext cx="1930140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Прямі</a:t>
            </a: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іноземні інвестиції.</a:t>
            </a:r>
          </a:p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Індикатор довіри інвесторів, інноваційності, економічної привабливості.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6324034" y="4412344"/>
            <a:ext cx="2758054" cy="4742007"/>
            <a:chOff x="0" y="0"/>
            <a:chExt cx="772466" cy="132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72466" cy="1328125"/>
            </a:xfrm>
            <a:custGeom>
              <a:avLst/>
              <a:gdLst/>
              <a:ahLst/>
              <a:cxnLst/>
              <a:rect r="r" b="b" t="t" l="l"/>
              <a:pathLst>
                <a:path h="1328125" w="772466">
                  <a:moveTo>
                    <a:pt x="42105" y="0"/>
                  </a:moveTo>
                  <a:lnTo>
                    <a:pt x="730361" y="0"/>
                  </a:lnTo>
                  <a:cubicBezTo>
                    <a:pt x="741528" y="0"/>
                    <a:pt x="752238" y="4436"/>
                    <a:pt x="760134" y="12332"/>
                  </a:cubicBezTo>
                  <a:cubicBezTo>
                    <a:pt x="768030" y="20229"/>
                    <a:pt x="772466" y="30938"/>
                    <a:pt x="772466" y="42105"/>
                  </a:cubicBezTo>
                  <a:lnTo>
                    <a:pt x="772466" y="1286020"/>
                  </a:lnTo>
                  <a:cubicBezTo>
                    <a:pt x="772466" y="1297187"/>
                    <a:pt x="768030" y="1307897"/>
                    <a:pt x="760134" y="1315793"/>
                  </a:cubicBezTo>
                  <a:cubicBezTo>
                    <a:pt x="752238" y="1323689"/>
                    <a:pt x="741528" y="1328125"/>
                    <a:pt x="730361" y="1328125"/>
                  </a:cubicBezTo>
                  <a:lnTo>
                    <a:pt x="42105" y="1328125"/>
                  </a:lnTo>
                  <a:cubicBezTo>
                    <a:pt x="30938" y="1328125"/>
                    <a:pt x="20229" y="1323689"/>
                    <a:pt x="12332" y="1315793"/>
                  </a:cubicBezTo>
                  <a:cubicBezTo>
                    <a:pt x="4436" y="1307897"/>
                    <a:pt x="0" y="1297187"/>
                    <a:pt x="0" y="1286020"/>
                  </a:cubicBezTo>
                  <a:lnTo>
                    <a:pt x="0" y="42105"/>
                  </a:lnTo>
                  <a:cubicBezTo>
                    <a:pt x="0" y="30938"/>
                    <a:pt x="4436" y="20229"/>
                    <a:pt x="12332" y="12332"/>
                  </a:cubicBezTo>
                  <a:cubicBezTo>
                    <a:pt x="20229" y="4436"/>
                    <a:pt x="30938" y="0"/>
                    <a:pt x="4210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85725"/>
              <a:ext cx="772466" cy="124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6373191" y="5925408"/>
            <a:ext cx="2620856" cy="2567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Категорії</a:t>
            </a: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Світового банку:</a:t>
            </a:r>
          </a:p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1 - низький дохід</a:t>
            </a:r>
          </a:p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2 - нижче середнього</a:t>
            </a:r>
          </a:p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3 - вище середнього</a:t>
            </a:r>
          </a:p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4 - високий дохід</a:t>
            </a:r>
          </a:p>
          <a:p>
            <a:pPr algn="just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Показник рівня економічного розвитку.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05913" y="4412344"/>
            <a:ext cx="2758054" cy="4742007"/>
            <a:chOff x="0" y="0"/>
            <a:chExt cx="772466" cy="13281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72466" cy="1328125"/>
            </a:xfrm>
            <a:custGeom>
              <a:avLst/>
              <a:gdLst/>
              <a:ahLst/>
              <a:cxnLst/>
              <a:rect r="r" b="b" t="t" l="l"/>
              <a:pathLst>
                <a:path h="1328125" w="772466">
                  <a:moveTo>
                    <a:pt x="42105" y="0"/>
                  </a:moveTo>
                  <a:lnTo>
                    <a:pt x="730361" y="0"/>
                  </a:lnTo>
                  <a:cubicBezTo>
                    <a:pt x="741528" y="0"/>
                    <a:pt x="752238" y="4436"/>
                    <a:pt x="760134" y="12332"/>
                  </a:cubicBezTo>
                  <a:cubicBezTo>
                    <a:pt x="768030" y="20229"/>
                    <a:pt x="772466" y="30938"/>
                    <a:pt x="772466" y="42105"/>
                  </a:cubicBezTo>
                  <a:lnTo>
                    <a:pt x="772466" y="1286020"/>
                  </a:lnTo>
                  <a:cubicBezTo>
                    <a:pt x="772466" y="1297187"/>
                    <a:pt x="768030" y="1307897"/>
                    <a:pt x="760134" y="1315793"/>
                  </a:cubicBezTo>
                  <a:cubicBezTo>
                    <a:pt x="752238" y="1323689"/>
                    <a:pt x="741528" y="1328125"/>
                    <a:pt x="730361" y="1328125"/>
                  </a:cubicBezTo>
                  <a:lnTo>
                    <a:pt x="42105" y="1328125"/>
                  </a:lnTo>
                  <a:cubicBezTo>
                    <a:pt x="30938" y="1328125"/>
                    <a:pt x="20229" y="1323689"/>
                    <a:pt x="12332" y="1315793"/>
                  </a:cubicBezTo>
                  <a:cubicBezTo>
                    <a:pt x="4436" y="1307897"/>
                    <a:pt x="0" y="1297187"/>
                    <a:pt x="0" y="1286020"/>
                  </a:cubicBezTo>
                  <a:lnTo>
                    <a:pt x="0" y="42105"/>
                  </a:lnTo>
                  <a:cubicBezTo>
                    <a:pt x="0" y="30938"/>
                    <a:pt x="4436" y="20229"/>
                    <a:pt x="12332" y="12332"/>
                  </a:cubicBezTo>
                  <a:cubicBezTo>
                    <a:pt x="20229" y="4436"/>
                    <a:pt x="30938" y="0"/>
                    <a:pt x="4210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85725"/>
              <a:ext cx="772466" cy="124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400236" y="5751865"/>
            <a:ext cx="2330524" cy="313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Статус</a:t>
            </a: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доступу до фінансування Світового банку:</a:t>
            </a:r>
          </a:p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1 - IDA (для найбідніших країн)</a:t>
            </a:r>
          </a:p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2 - Blend</a:t>
            </a:r>
          </a:p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3 - IBRD (розвинуті економіки)</a:t>
            </a:r>
          </a:p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Характеризує кредитоспроможність країни.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083167" y="4412344"/>
            <a:ext cx="2758054" cy="4742007"/>
            <a:chOff x="0" y="0"/>
            <a:chExt cx="772466" cy="132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2466" cy="1328125"/>
            </a:xfrm>
            <a:custGeom>
              <a:avLst/>
              <a:gdLst/>
              <a:ahLst/>
              <a:cxnLst/>
              <a:rect r="r" b="b" t="t" l="l"/>
              <a:pathLst>
                <a:path h="1328125" w="772466">
                  <a:moveTo>
                    <a:pt x="42105" y="0"/>
                  </a:moveTo>
                  <a:lnTo>
                    <a:pt x="730361" y="0"/>
                  </a:lnTo>
                  <a:cubicBezTo>
                    <a:pt x="741528" y="0"/>
                    <a:pt x="752238" y="4436"/>
                    <a:pt x="760134" y="12332"/>
                  </a:cubicBezTo>
                  <a:cubicBezTo>
                    <a:pt x="768030" y="20229"/>
                    <a:pt x="772466" y="30938"/>
                    <a:pt x="772466" y="42105"/>
                  </a:cubicBezTo>
                  <a:lnTo>
                    <a:pt x="772466" y="1286020"/>
                  </a:lnTo>
                  <a:cubicBezTo>
                    <a:pt x="772466" y="1297187"/>
                    <a:pt x="768030" y="1307897"/>
                    <a:pt x="760134" y="1315793"/>
                  </a:cubicBezTo>
                  <a:cubicBezTo>
                    <a:pt x="752238" y="1323689"/>
                    <a:pt x="741528" y="1328125"/>
                    <a:pt x="730361" y="1328125"/>
                  </a:cubicBezTo>
                  <a:lnTo>
                    <a:pt x="42105" y="1328125"/>
                  </a:lnTo>
                  <a:cubicBezTo>
                    <a:pt x="30938" y="1328125"/>
                    <a:pt x="20229" y="1323689"/>
                    <a:pt x="12332" y="1315793"/>
                  </a:cubicBezTo>
                  <a:cubicBezTo>
                    <a:pt x="4436" y="1307897"/>
                    <a:pt x="0" y="1297187"/>
                    <a:pt x="0" y="1286020"/>
                  </a:cubicBezTo>
                  <a:lnTo>
                    <a:pt x="0" y="42105"/>
                  </a:lnTo>
                  <a:cubicBezTo>
                    <a:pt x="0" y="30938"/>
                    <a:pt x="4436" y="20229"/>
                    <a:pt x="12332" y="12332"/>
                  </a:cubicBezTo>
                  <a:cubicBezTo>
                    <a:pt x="20229" y="4436"/>
                    <a:pt x="30938" y="0"/>
                    <a:pt x="4210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85725"/>
              <a:ext cx="772466" cy="124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311607" y="5941601"/>
            <a:ext cx="2330524" cy="11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Високе</a:t>
            </a: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безробіття - ознака соціальних та економічних ризиків.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965045" y="4412344"/>
            <a:ext cx="2758054" cy="4742007"/>
            <a:chOff x="0" y="0"/>
            <a:chExt cx="772466" cy="132812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72466" cy="1328125"/>
            </a:xfrm>
            <a:custGeom>
              <a:avLst/>
              <a:gdLst/>
              <a:ahLst/>
              <a:cxnLst/>
              <a:rect r="r" b="b" t="t" l="l"/>
              <a:pathLst>
                <a:path h="1328125" w="772466">
                  <a:moveTo>
                    <a:pt x="42105" y="0"/>
                  </a:moveTo>
                  <a:lnTo>
                    <a:pt x="730361" y="0"/>
                  </a:lnTo>
                  <a:cubicBezTo>
                    <a:pt x="741528" y="0"/>
                    <a:pt x="752238" y="4436"/>
                    <a:pt x="760134" y="12332"/>
                  </a:cubicBezTo>
                  <a:cubicBezTo>
                    <a:pt x="768030" y="20229"/>
                    <a:pt x="772466" y="30938"/>
                    <a:pt x="772466" y="42105"/>
                  </a:cubicBezTo>
                  <a:lnTo>
                    <a:pt x="772466" y="1286020"/>
                  </a:lnTo>
                  <a:cubicBezTo>
                    <a:pt x="772466" y="1297187"/>
                    <a:pt x="768030" y="1307897"/>
                    <a:pt x="760134" y="1315793"/>
                  </a:cubicBezTo>
                  <a:cubicBezTo>
                    <a:pt x="752238" y="1323689"/>
                    <a:pt x="741528" y="1328125"/>
                    <a:pt x="730361" y="1328125"/>
                  </a:cubicBezTo>
                  <a:lnTo>
                    <a:pt x="42105" y="1328125"/>
                  </a:lnTo>
                  <a:cubicBezTo>
                    <a:pt x="30938" y="1328125"/>
                    <a:pt x="20229" y="1323689"/>
                    <a:pt x="12332" y="1315793"/>
                  </a:cubicBezTo>
                  <a:cubicBezTo>
                    <a:pt x="4436" y="1307897"/>
                    <a:pt x="0" y="1297187"/>
                    <a:pt x="0" y="1286020"/>
                  </a:cubicBezTo>
                  <a:lnTo>
                    <a:pt x="0" y="42105"/>
                  </a:lnTo>
                  <a:cubicBezTo>
                    <a:pt x="0" y="30938"/>
                    <a:pt x="4436" y="20229"/>
                    <a:pt x="12332" y="12332"/>
                  </a:cubicBezTo>
                  <a:cubicBezTo>
                    <a:pt x="20229" y="4436"/>
                    <a:pt x="30938" y="0"/>
                    <a:pt x="4210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85725"/>
              <a:ext cx="772466" cy="1242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5178810" y="5863307"/>
            <a:ext cx="2330524" cy="113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95"/>
              </a:lnSpc>
              <a:spcBef>
                <a:spcPct val="0"/>
              </a:spcBef>
            </a:pPr>
            <a:r>
              <a:rPr lang="en-US" b="true" sz="1700" spc="102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Великий</a:t>
            </a:r>
            <a:r>
              <a:rPr lang="en-US" b="true" sz="1700" spc="102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борг - ризик фінансової нестабільності та дефолту.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64901" y="3377895"/>
            <a:ext cx="4741822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6500" spc="-533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Стимулятори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83167" y="3377895"/>
            <a:ext cx="5426167" cy="85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sz="6500" spc="-533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Дестимулятори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-2370241">
            <a:off x="15598431" y="-994124"/>
            <a:ext cx="3821805" cy="3217265"/>
          </a:xfrm>
          <a:custGeom>
            <a:avLst/>
            <a:gdLst/>
            <a:ahLst/>
            <a:cxnLst/>
            <a:rect r="r" b="b" t="t" l="l"/>
            <a:pathLst>
              <a:path h="3217265" w="3821805">
                <a:moveTo>
                  <a:pt x="0" y="0"/>
                </a:moveTo>
                <a:lnTo>
                  <a:pt x="3821805" y="0"/>
                </a:lnTo>
                <a:lnTo>
                  <a:pt x="3821805" y="3217265"/>
                </a:lnTo>
                <a:lnTo>
                  <a:pt x="0" y="321726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3850969" y="4699162"/>
            <a:ext cx="1940427" cy="90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3600" spc="-295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FDI (% of GDP)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35323" y="4607313"/>
            <a:ext cx="2135475" cy="90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3600" spc="-295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Income group (1–4)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346337" y="4597788"/>
            <a:ext cx="2477204" cy="84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1"/>
              </a:lnSpc>
            </a:pPr>
            <a:r>
              <a:rPr lang="en-US" sz="3314" spc="-271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Lending category (1–3)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267439" y="4634187"/>
            <a:ext cx="2394134" cy="758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9"/>
              </a:lnSpc>
            </a:pPr>
            <a:r>
              <a:rPr lang="en-US" sz="2978" spc="-244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Unemployment rate (%)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5107920" y="4680112"/>
            <a:ext cx="2511187" cy="759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3"/>
              </a:lnSpc>
            </a:pPr>
            <a:r>
              <a:rPr lang="en-US" sz="2983" spc="-244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Government debt (% of GDP)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28909" y="1675147"/>
            <a:ext cx="7032378" cy="7583153"/>
            <a:chOff x="0" y="0"/>
            <a:chExt cx="1852149" cy="1997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52149" cy="1997209"/>
            </a:xfrm>
            <a:custGeom>
              <a:avLst/>
              <a:gdLst/>
              <a:ahLst/>
              <a:cxnLst/>
              <a:rect r="r" b="b" t="t" l="l"/>
              <a:pathLst>
                <a:path h="1997209" w="1852149">
                  <a:moveTo>
                    <a:pt x="16513" y="0"/>
                  </a:moveTo>
                  <a:lnTo>
                    <a:pt x="1835635" y="0"/>
                  </a:lnTo>
                  <a:cubicBezTo>
                    <a:pt x="1840015" y="0"/>
                    <a:pt x="1844215" y="1740"/>
                    <a:pt x="1847312" y="4837"/>
                  </a:cubicBezTo>
                  <a:cubicBezTo>
                    <a:pt x="1850409" y="7934"/>
                    <a:pt x="1852149" y="12134"/>
                    <a:pt x="1852149" y="16513"/>
                  </a:cubicBezTo>
                  <a:lnTo>
                    <a:pt x="1852149" y="1980695"/>
                  </a:lnTo>
                  <a:cubicBezTo>
                    <a:pt x="1852149" y="1989816"/>
                    <a:pt x="1844756" y="1997209"/>
                    <a:pt x="1835635" y="1997209"/>
                  </a:cubicBezTo>
                  <a:lnTo>
                    <a:pt x="16513" y="1997209"/>
                  </a:lnTo>
                  <a:cubicBezTo>
                    <a:pt x="7393" y="1997209"/>
                    <a:pt x="0" y="1989816"/>
                    <a:pt x="0" y="1980695"/>
                  </a:cubicBezTo>
                  <a:lnTo>
                    <a:pt x="0" y="16513"/>
                  </a:lnTo>
                  <a:cubicBezTo>
                    <a:pt x="0" y="7393"/>
                    <a:pt x="7393" y="0"/>
                    <a:pt x="16513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852149" cy="191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30412" y="435431"/>
            <a:ext cx="10627176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b="true" sz="8499" spc="-696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Дані та вибірка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353923" y="2483024"/>
            <a:ext cx="6106803" cy="622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b="true" sz="2656" spc="159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Джерело:</a:t>
            </a:r>
            <a:r>
              <a:rPr lang="en-US" b="true" sz="2656" spc="159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World Bank — WDI API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b="true" sz="2656" spc="159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Період:</a:t>
            </a:r>
            <a:r>
              <a:rPr lang="en-US" b="true" sz="2656" spc="159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2005–2020 рр.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b="true" sz="2656" spc="159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Кількість країн:</a:t>
            </a:r>
            <a:r>
              <a:rPr lang="en-US" b="true" sz="2656" spc="159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190+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b="true" sz="2656" spc="159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Показники</a:t>
            </a:r>
            <a:r>
              <a:rPr lang="en-US" b="true" sz="2656" spc="159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— річні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b="true" sz="2656" spc="159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Виключено агреговані регіони (Єврозона, Латинська Америка тощо)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b="true" sz="2656" spc="159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Після обробки отримано</a:t>
            </a:r>
            <a:r>
              <a:rPr lang="en-US" b="true" sz="2656" spc="159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:</a:t>
            </a:r>
          </a:p>
          <a:p>
            <a:pPr algn="just" marL="1147287" indent="-382429" lvl="2">
              <a:lnSpc>
                <a:spcPts val="3586"/>
              </a:lnSpc>
              <a:buFont typeface="Arial"/>
              <a:buChar char="⚬"/>
            </a:pPr>
            <a:r>
              <a:rPr lang="en-US" b="true" sz="2656" spc="159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16 років × 190 країн = ~3000 спостережень</a:t>
            </a:r>
          </a:p>
          <a:p>
            <a:pPr algn="just" marL="1147287" indent="-382429" lvl="2">
              <a:lnSpc>
                <a:spcPts val="3586"/>
              </a:lnSpc>
              <a:buFont typeface="Arial"/>
              <a:buChar char="⚬"/>
            </a:pPr>
            <a:r>
              <a:rPr lang="en-US" b="true" sz="2656" spc="159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6 ключових індикаторів + додаткові службові змінні</a:t>
            </a:r>
          </a:p>
          <a:p>
            <a:pPr algn="ctr">
              <a:lnSpc>
                <a:spcPts val="3260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9226713" y="1675147"/>
            <a:ext cx="7032378" cy="7583153"/>
            <a:chOff x="0" y="0"/>
            <a:chExt cx="1852149" cy="199720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52149" cy="1997209"/>
            </a:xfrm>
            <a:custGeom>
              <a:avLst/>
              <a:gdLst/>
              <a:ahLst/>
              <a:cxnLst/>
              <a:rect r="r" b="b" t="t" l="l"/>
              <a:pathLst>
                <a:path h="1997209" w="1852149">
                  <a:moveTo>
                    <a:pt x="16513" y="0"/>
                  </a:moveTo>
                  <a:lnTo>
                    <a:pt x="1835635" y="0"/>
                  </a:lnTo>
                  <a:cubicBezTo>
                    <a:pt x="1840015" y="0"/>
                    <a:pt x="1844215" y="1740"/>
                    <a:pt x="1847312" y="4837"/>
                  </a:cubicBezTo>
                  <a:cubicBezTo>
                    <a:pt x="1850409" y="7934"/>
                    <a:pt x="1852149" y="12134"/>
                    <a:pt x="1852149" y="16513"/>
                  </a:cubicBezTo>
                  <a:lnTo>
                    <a:pt x="1852149" y="1980695"/>
                  </a:lnTo>
                  <a:cubicBezTo>
                    <a:pt x="1852149" y="1989816"/>
                    <a:pt x="1844756" y="1997209"/>
                    <a:pt x="1835635" y="1997209"/>
                  </a:cubicBezTo>
                  <a:lnTo>
                    <a:pt x="16513" y="1997209"/>
                  </a:lnTo>
                  <a:cubicBezTo>
                    <a:pt x="7393" y="1997209"/>
                    <a:pt x="0" y="1989816"/>
                    <a:pt x="0" y="1980695"/>
                  </a:cubicBezTo>
                  <a:lnTo>
                    <a:pt x="0" y="16513"/>
                  </a:lnTo>
                  <a:cubicBezTo>
                    <a:pt x="0" y="7393"/>
                    <a:pt x="7393" y="0"/>
                    <a:pt x="16513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85725"/>
              <a:ext cx="1852149" cy="191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594005" y="2483024"/>
            <a:ext cx="6106803" cy="6228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586"/>
              </a:lnSpc>
            </a:pPr>
            <a:r>
              <a:rPr lang="en-US" b="true" sz="2656" spc="159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Етапи обробки даних: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sz="2656" spc="159">
                <a:solidFill>
                  <a:srgbClr val="CDEDDC"/>
                </a:solidFill>
                <a:latin typeface="Public Sans"/>
                <a:ea typeface="Public Sans"/>
                <a:cs typeface="Public Sans"/>
                <a:sym typeface="Public Sans"/>
              </a:rPr>
              <a:t>Перекодування категорій (income, lending → числа).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sz="2656" spc="159">
                <a:solidFill>
                  <a:srgbClr val="CDEDDC"/>
                </a:solidFill>
                <a:latin typeface="Public Sans"/>
                <a:ea typeface="Public Sans"/>
                <a:cs typeface="Public Sans"/>
                <a:sym typeface="Public Sans"/>
              </a:rPr>
              <a:t>Упорядкування даних за роками всередині країни.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sz="2656" spc="159">
                <a:solidFill>
                  <a:srgbClr val="CDEDDC"/>
                </a:solidFill>
                <a:latin typeface="Public Sans"/>
                <a:ea typeface="Public Sans"/>
                <a:cs typeface="Public Sans"/>
                <a:sym typeface="Public Sans"/>
              </a:rPr>
              <a:t>Інтерполяція пропусків (na.approx) для плавності часових рядів.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sz="2656" spc="159">
                <a:solidFill>
                  <a:srgbClr val="CDEDDC"/>
                </a:solidFill>
                <a:latin typeface="Public Sans"/>
                <a:ea typeface="Public Sans"/>
                <a:cs typeface="Public Sans"/>
                <a:sym typeface="Public Sans"/>
              </a:rPr>
              <a:t>Дозаповнення медіанами — для країни, де даних недостатньо.</a:t>
            </a:r>
          </a:p>
          <a:p>
            <a:pPr algn="just" marL="573644" indent="-286822" lvl="1">
              <a:lnSpc>
                <a:spcPts val="3586"/>
              </a:lnSpc>
              <a:buFont typeface="Arial"/>
              <a:buChar char="•"/>
            </a:pPr>
            <a:r>
              <a:rPr lang="en-US" sz="2656" spc="159">
                <a:solidFill>
                  <a:srgbClr val="CDEDDC"/>
                </a:solidFill>
                <a:latin typeface="Public Sans"/>
                <a:ea typeface="Public Sans"/>
                <a:cs typeface="Public Sans"/>
                <a:sym typeface="Public Sans"/>
              </a:rPr>
              <a:t>Формування фінального датасету без пропусків.</a:t>
            </a:r>
          </a:p>
          <a:p>
            <a:pPr algn="ctr">
              <a:lnSpc>
                <a:spcPts val="326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878543" y="-5049369"/>
            <a:ext cx="161092" cy="19244923"/>
            <a:chOff x="0" y="0"/>
            <a:chExt cx="45118" cy="5390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18" cy="5390053"/>
            </a:xfrm>
            <a:custGeom>
              <a:avLst/>
              <a:gdLst/>
              <a:ahLst/>
              <a:cxnLst/>
              <a:rect r="r" b="b" t="t" l="l"/>
              <a:pathLst>
                <a:path h="5390053" w="45118">
                  <a:moveTo>
                    <a:pt x="22559" y="0"/>
                  </a:moveTo>
                  <a:lnTo>
                    <a:pt x="22559" y="0"/>
                  </a:lnTo>
                  <a:cubicBezTo>
                    <a:pt x="35018" y="0"/>
                    <a:pt x="45118" y="10100"/>
                    <a:pt x="45118" y="22559"/>
                  </a:cubicBezTo>
                  <a:lnTo>
                    <a:pt x="45118" y="5367494"/>
                  </a:lnTo>
                  <a:cubicBezTo>
                    <a:pt x="45118" y="5379953"/>
                    <a:pt x="35018" y="5390053"/>
                    <a:pt x="22559" y="5390053"/>
                  </a:cubicBezTo>
                  <a:lnTo>
                    <a:pt x="22559" y="5390053"/>
                  </a:lnTo>
                  <a:cubicBezTo>
                    <a:pt x="10100" y="5390053"/>
                    <a:pt x="0" y="5379953"/>
                    <a:pt x="0" y="5367494"/>
                  </a:cubicBezTo>
                  <a:lnTo>
                    <a:pt x="0" y="22559"/>
                  </a:lnTo>
                  <a:cubicBezTo>
                    <a:pt x="0" y="10100"/>
                    <a:pt x="10100" y="0"/>
                    <a:pt x="22559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5118" cy="5304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23476" y="4826586"/>
            <a:ext cx="17441047" cy="5275917"/>
          </a:xfrm>
          <a:custGeom>
            <a:avLst/>
            <a:gdLst/>
            <a:ahLst/>
            <a:cxnLst/>
            <a:rect r="r" b="b" t="t" l="l"/>
            <a:pathLst>
              <a:path h="5275917" w="17441047">
                <a:moveTo>
                  <a:pt x="0" y="0"/>
                </a:moveTo>
                <a:lnTo>
                  <a:pt x="17441048" y="0"/>
                </a:lnTo>
                <a:lnTo>
                  <a:pt x="17441048" y="5275917"/>
                </a:lnTo>
                <a:lnTo>
                  <a:pt x="0" y="52759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21329" y="330380"/>
            <a:ext cx="11445341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Кореляційний аналіз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65326" y="1389559"/>
            <a:ext cx="15193974" cy="304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0"/>
              </a:lnSpc>
              <a:spcBef>
                <a:spcPct val="0"/>
              </a:spcBef>
            </a:pPr>
            <a:r>
              <a:rPr lang="en-US" b="true" sz="2259" spc="135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Одержана</a:t>
            </a:r>
            <a:r>
              <a:rPr lang="en-US" b="true" sz="2259" spc="135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кореляційна матриця показала:</a:t>
            </a:r>
          </a:p>
          <a:p>
            <a:pPr algn="l" marL="487783" indent="-243891" lvl="1">
              <a:lnSpc>
                <a:spcPts val="3050"/>
              </a:lnSpc>
              <a:buFont typeface="Arial"/>
              <a:buChar char="•"/>
            </a:pPr>
            <a:r>
              <a:rPr lang="en-US" b="true" sz="2259" spc="135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кореляції загалом низькі → індикатори не дублюють один одного;</a:t>
            </a:r>
          </a:p>
          <a:p>
            <a:pPr algn="l" marL="487783" indent="-243891" lvl="1">
              <a:lnSpc>
                <a:spcPts val="3050"/>
              </a:lnSpc>
              <a:buFont typeface="Arial"/>
              <a:buChar char="•"/>
            </a:pPr>
            <a:r>
              <a:rPr lang="en-US" b="true" sz="2259" spc="135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помірний зв’язок:</a:t>
            </a:r>
          </a:p>
          <a:p>
            <a:pPr algn="l" marL="975566" indent="-325189" lvl="2">
              <a:lnSpc>
                <a:spcPts val="3050"/>
              </a:lnSpc>
              <a:buFont typeface="Arial"/>
              <a:buChar char="⚬"/>
            </a:pPr>
            <a:r>
              <a:rPr lang="en-US" b="true" sz="2259" spc="135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income ⇄ trade (0.31)</a:t>
            </a:r>
          </a:p>
          <a:p>
            <a:pPr algn="l" marL="975566" indent="-325189" lvl="2">
              <a:lnSpc>
                <a:spcPts val="3050"/>
              </a:lnSpc>
              <a:buFont typeface="Arial"/>
              <a:buChar char="⚬"/>
            </a:pPr>
            <a:r>
              <a:rPr lang="en-US" b="true" sz="2259" spc="135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income ⇄ lending (0.47)</a:t>
            </a:r>
          </a:p>
          <a:p>
            <a:pPr algn="l" marL="487783" indent="-243891" lvl="1">
              <a:lnSpc>
                <a:spcPts val="3050"/>
              </a:lnSpc>
              <a:buFont typeface="Arial"/>
              <a:buChar char="•"/>
            </a:pPr>
            <a:r>
              <a:rPr lang="en-US" b="true" sz="2259" spc="135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дестимулятори не мають високих зв’язків зі стимуляторами → добре для індексу;</a:t>
            </a:r>
          </a:p>
          <a:p>
            <a:pPr algn="l" marL="487783" indent="-243891" lvl="1">
              <a:lnSpc>
                <a:spcPts val="305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59" spc="135" u="none">
                <a:solidFill>
                  <a:srgbClr val="4FA678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найменша кореляція — між безробіттям і рештою показників.</a:t>
            </a:r>
          </a:p>
          <a:p>
            <a:pPr algn="l" marL="0" indent="0" lvl="0">
              <a:lnSpc>
                <a:spcPts val="3050"/>
              </a:lnSpc>
              <a:spcBef>
                <a:spcPct val="0"/>
              </a:spcBef>
            </a:pPr>
            <a:r>
              <a:rPr lang="en-US" b="true" sz="2259" spc="135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Отже, набір індикаторів репрезентує різні аспекти економічної стійкості.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751460" y="-5895493"/>
            <a:ext cx="161092" cy="19244923"/>
            <a:chOff x="0" y="0"/>
            <a:chExt cx="45118" cy="5390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118" cy="5390053"/>
            </a:xfrm>
            <a:custGeom>
              <a:avLst/>
              <a:gdLst/>
              <a:ahLst/>
              <a:cxnLst/>
              <a:rect r="r" b="b" t="t" l="l"/>
              <a:pathLst>
                <a:path h="5390053" w="45118">
                  <a:moveTo>
                    <a:pt x="22559" y="0"/>
                  </a:moveTo>
                  <a:lnTo>
                    <a:pt x="22559" y="0"/>
                  </a:lnTo>
                  <a:cubicBezTo>
                    <a:pt x="35018" y="0"/>
                    <a:pt x="45118" y="10100"/>
                    <a:pt x="45118" y="22559"/>
                  </a:cubicBezTo>
                  <a:lnTo>
                    <a:pt x="45118" y="5367494"/>
                  </a:lnTo>
                  <a:cubicBezTo>
                    <a:pt x="45118" y="5379953"/>
                    <a:pt x="35018" y="5390053"/>
                    <a:pt x="22559" y="5390053"/>
                  </a:cubicBezTo>
                  <a:lnTo>
                    <a:pt x="22559" y="5390053"/>
                  </a:lnTo>
                  <a:cubicBezTo>
                    <a:pt x="10100" y="5390053"/>
                    <a:pt x="0" y="5379953"/>
                    <a:pt x="0" y="5367494"/>
                  </a:cubicBezTo>
                  <a:lnTo>
                    <a:pt x="0" y="22559"/>
                  </a:lnTo>
                  <a:cubicBezTo>
                    <a:pt x="0" y="10100"/>
                    <a:pt x="10100" y="0"/>
                    <a:pt x="22559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5118" cy="5304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924597" y="3929244"/>
            <a:ext cx="12438806" cy="6126112"/>
          </a:xfrm>
          <a:custGeom>
            <a:avLst/>
            <a:gdLst/>
            <a:ahLst/>
            <a:cxnLst/>
            <a:rect r="r" b="b" t="t" l="l"/>
            <a:pathLst>
              <a:path h="6126112" w="12438806">
                <a:moveTo>
                  <a:pt x="0" y="0"/>
                </a:moveTo>
                <a:lnTo>
                  <a:pt x="12438806" y="0"/>
                </a:lnTo>
                <a:lnTo>
                  <a:pt x="12438806" y="6126112"/>
                </a:lnTo>
                <a:lnTo>
                  <a:pt x="0" y="61261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6111" y="276972"/>
            <a:ext cx="15815777" cy="94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7200" spc="-590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PCA — результати головних компонент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47013" y="1191760"/>
            <a:ext cx="9269712" cy="2737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1800" spc="108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Внесок</a:t>
            </a:r>
            <a:r>
              <a:rPr lang="en-US" b="true" sz="1800" spc="108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компонент: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PC1 = 27.6%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 (доходи, торгівля, кредитна категорія — рівень розвитку)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PC2 = 19.0%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 (протиставлення боргу та ринку праці розвитку)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PC3 = 16.6%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 (інвестиційна активність — FDI)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Сумарно PC1–PC3 = 63%</a:t>
            </a:r>
          </a:p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816725" y="1191760"/>
            <a:ext cx="5963148" cy="1213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1800" spc="108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Завантаження</a:t>
            </a:r>
            <a:r>
              <a:rPr lang="en-US" b="true" sz="1800" spc="108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змінних: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income &amp; lending → PC1 (розвиток)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gov_debt → PC2 (боргова стабільність)</a:t>
            </a:r>
          </a:p>
          <a:p>
            <a:pPr algn="l" marL="388622" indent="-194311" lvl="1">
              <a:lnSpc>
                <a:spcPts val="2430"/>
              </a:lnSpc>
              <a:buFont typeface="Arial"/>
              <a:buChar char="•"/>
            </a:pPr>
            <a:r>
              <a:rPr lang="en-US" sz="1800" spc="108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fdi → PC3 (інвестиційність)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20545"/>
            <a:ext cx="5625063" cy="8037755"/>
            <a:chOff x="0" y="0"/>
            <a:chExt cx="1575449" cy="2251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5449" cy="2251187"/>
            </a:xfrm>
            <a:custGeom>
              <a:avLst/>
              <a:gdLst/>
              <a:ahLst/>
              <a:cxnLst/>
              <a:rect r="r" b="b" t="t" l="l"/>
              <a:pathLst>
                <a:path h="2251187" w="1575449">
                  <a:moveTo>
                    <a:pt x="20645" y="0"/>
                  </a:moveTo>
                  <a:lnTo>
                    <a:pt x="1554804" y="0"/>
                  </a:lnTo>
                  <a:cubicBezTo>
                    <a:pt x="1560279" y="0"/>
                    <a:pt x="1565530" y="2175"/>
                    <a:pt x="1569402" y="6047"/>
                  </a:cubicBezTo>
                  <a:cubicBezTo>
                    <a:pt x="1573273" y="9918"/>
                    <a:pt x="1575449" y="15170"/>
                    <a:pt x="1575449" y="20645"/>
                  </a:cubicBezTo>
                  <a:lnTo>
                    <a:pt x="1575449" y="2230542"/>
                  </a:lnTo>
                  <a:cubicBezTo>
                    <a:pt x="1575449" y="2241944"/>
                    <a:pt x="1566205" y="2251187"/>
                    <a:pt x="1554804" y="2251187"/>
                  </a:cubicBezTo>
                  <a:lnTo>
                    <a:pt x="20645" y="2251187"/>
                  </a:lnTo>
                  <a:cubicBezTo>
                    <a:pt x="9243" y="2251187"/>
                    <a:pt x="0" y="2241944"/>
                    <a:pt x="0" y="2230542"/>
                  </a:cubicBezTo>
                  <a:lnTo>
                    <a:pt x="0" y="20645"/>
                  </a:lnTo>
                  <a:cubicBezTo>
                    <a:pt x="0" y="9243"/>
                    <a:pt x="9243" y="0"/>
                    <a:pt x="2064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575449" cy="2165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630605" y="1220545"/>
            <a:ext cx="5624790" cy="8037755"/>
            <a:chOff x="0" y="0"/>
            <a:chExt cx="1575372" cy="2251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75372" cy="2251187"/>
            </a:xfrm>
            <a:custGeom>
              <a:avLst/>
              <a:gdLst/>
              <a:ahLst/>
              <a:cxnLst/>
              <a:rect r="r" b="b" t="t" l="l"/>
              <a:pathLst>
                <a:path h="2251187" w="1575372">
                  <a:moveTo>
                    <a:pt x="20646" y="0"/>
                  </a:moveTo>
                  <a:lnTo>
                    <a:pt x="1554726" y="0"/>
                  </a:lnTo>
                  <a:cubicBezTo>
                    <a:pt x="1566129" y="0"/>
                    <a:pt x="1575372" y="9243"/>
                    <a:pt x="1575372" y="20646"/>
                  </a:cubicBezTo>
                  <a:lnTo>
                    <a:pt x="1575372" y="2230541"/>
                  </a:lnTo>
                  <a:cubicBezTo>
                    <a:pt x="1575372" y="2236017"/>
                    <a:pt x="1573197" y="2241268"/>
                    <a:pt x="1569325" y="2245140"/>
                  </a:cubicBezTo>
                  <a:cubicBezTo>
                    <a:pt x="1565453" y="2249012"/>
                    <a:pt x="1560202" y="2251187"/>
                    <a:pt x="1554726" y="2251187"/>
                  </a:cubicBezTo>
                  <a:lnTo>
                    <a:pt x="20646" y="2251187"/>
                  </a:lnTo>
                  <a:cubicBezTo>
                    <a:pt x="15170" y="2251187"/>
                    <a:pt x="9919" y="2249012"/>
                    <a:pt x="6047" y="2245140"/>
                  </a:cubicBezTo>
                  <a:cubicBezTo>
                    <a:pt x="2175" y="2241268"/>
                    <a:pt x="0" y="2236017"/>
                    <a:pt x="0" y="2230541"/>
                  </a:cubicBezTo>
                  <a:lnTo>
                    <a:pt x="0" y="20646"/>
                  </a:lnTo>
                  <a:cubicBezTo>
                    <a:pt x="0" y="15170"/>
                    <a:pt x="2175" y="9919"/>
                    <a:pt x="6047" y="6047"/>
                  </a:cubicBezTo>
                  <a:cubicBezTo>
                    <a:pt x="9919" y="2175"/>
                    <a:pt x="15170" y="0"/>
                    <a:pt x="20646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1575372" cy="2165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6408845" y="3121394"/>
            <a:ext cx="5470336" cy="3428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6"/>
              </a:lnSpc>
            </a:pPr>
            <a:r>
              <a:rPr lang="en-US" sz="5600" spc="-459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Підготовка індикаторів та побудова інтегрального індексу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924234" y="6792648"/>
            <a:ext cx="2439559" cy="496783"/>
          </a:xfrm>
          <a:custGeom>
            <a:avLst/>
            <a:gdLst/>
            <a:ahLst/>
            <a:cxnLst/>
            <a:rect r="r" b="b" t="t" l="l"/>
            <a:pathLst>
              <a:path h="496783" w="2439559">
                <a:moveTo>
                  <a:pt x="0" y="0"/>
                </a:moveTo>
                <a:lnTo>
                  <a:pt x="2439559" y="0"/>
                </a:lnTo>
                <a:lnTo>
                  <a:pt x="2439559" y="496783"/>
                </a:lnTo>
                <a:lnTo>
                  <a:pt x="0" y="49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87318" y="1875193"/>
            <a:ext cx="4907827" cy="6699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1800" spc="107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Що було зроблено: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кожен показник перетворено у стандартизовану форму (z-оцінку), щоб зробити їх сумірними;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для стимуляторів (де більше = краще) нормалізовані значення використані напряму;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для дестимуляторів (де менше = краще) застосована інверсія — щоб усі індикатори трактувалися однаково: «вищі значення = вища економічна безпека».</a:t>
            </a:r>
          </a:p>
          <a:p>
            <a:pPr algn="just">
              <a:lnSpc>
                <a:spcPts val="243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1800" spc="107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Це</a:t>
            </a:r>
            <a:r>
              <a:rPr lang="en-US" b="true" sz="1800" spc="107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усуває вплив різних одиниць вимірювання;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запобігає домінуванню окремих змінних у моделі;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забезпечує коректне агрегування та порівнюваність між країнами;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є обов’язковим кроком перед побудовою індексу.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48867"/>
            <a:ext cx="5625063" cy="471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3600" spc="-295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Нормалізація індикаторів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879181" y="1570393"/>
            <a:ext cx="5122141" cy="7309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1800" spc="107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Після</a:t>
            </a:r>
            <a:r>
              <a:rPr lang="en-US" b="true" sz="1800" spc="10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нормалізації всі шість індикаторів були об’єднані в єдину метрику — </a:t>
            </a:r>
            <a:r>
              <a:rPr lang="en-US" b="true" sz="1800" spc="107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Economic Security Index.</a:t>
            </a:r>
          </a:p>
          <a:p>
            <a:pPr algn="just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1800" spc="107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Принципи побудови індексу</a:t>
            </a:r>
            <a:r>
              <a:rPr lang="en-US" b="true" sz="1800" spc="10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: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кожен індикатор робить рівний вклад у фінальний результат (рівноважні ваги);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індекс відображає баланс між соціально-економічним розвитком, макрофінансовою стабільністю та зовнішньоекономічною активністю;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результат легко інтерпретувати: чим більше значення індексу, тим вищий рівень економічної безпеки країни.</a:t>
            </a:r>
          </a:p>
          <a:p>
            <a:pPr algn="just">
              <a:lnSpc>
                <a:spcPts val="2430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430"/>
              </a:lnSpc>
              <a:spcBef>
                <a:spcPct val="0"/>
              </a:spcBef>
            </a:pPr>
            <a:r>
              <a:rPr lang="en-US" b="true" sz="1800" spc="107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Переваги підходу</a:t>
            </a:r>
            <a:r>
              <a:rPr lang="en-US" b="true" sz="1800" spc="10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: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прозора методологія;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узгодженість із міжнародними принципами побудови композитних індексів;</a:t>
            </a:r>
          </a:p>
          <a:p>
            <a:pPr algn="just" marL="388620" indent="-194310" lvl="1">
              <a:lnSpc>
                <a:spcPts val="243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1800" spc="10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можливість порівнювати країни між собою та аналізувати їхню динаміку в часі.</a:t>
            </a:r>
          </a:p>
          <a:p>
            <a:pPr algn="just" marL="0" indent="0" lvl="0">
              <a:lnSpc>
                <a:spcPts val="2430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630605" y="310717"/>
            <a:ext cx="5628695" cy="909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</a:pPr>
            <a:r>
              <a:rPr lang="en-US" sz="3600" spc="-295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Побудова інтегрального індексу економічної безпеки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5933896" y="-2360655"/>
            <a:ext cx="6050387" cy="19244923"/>
            <a:chOff x="0" y="0"/>
            <a:chExt cx="1694572" cy="539005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94572" cy="5390053"/>
            </a:xfrm>
            <a:custGeom>
              <a:avLst/>
              <a:gdLst/>
              <a:ahLst/>
              <a:cxnLst/>
              <a:rect r="r" b="b" t="t" l="l"/>
              <a:pathLst>
                <a:path h="5390053" w="1694572">
                  <a:moveTo>
                    <a:pt x="19194" y="0"/>
                  </a:moveTo>
                  <a:lnTo>
                    <a:pt x="1675378" y="0"/>
                  </a:lnTo>
                  <a:cubicBezTo>
                    <a:pt x="1680469" y="0"/>
                    <a:pt x="1685351" y="2022"/>
                    <a:pt x="1688950" y="5622"/>
                  </a:cubicBezTo>
                  <a:cubicBezTo>
                    <a:pt x="1692550" y="9221"/>
                    <a:pt x="1694572" y="14103"/>
                    <a:pt x="1694572" y="19194"/>
                  </a:cubicBezTo>
                  <a:lnTo>
                    <a:pt x="1694572" y="5370859"/>
                  </a:lnTo>
                  <a:cubicBezTo>
                    <a:pt x="1694572" y="5381460"/>
                    <a:pt x="1685979" y="5390053"/>
                    <a:pt x="1675378" y="5390053"/>
                  </a:cubicBezTo>
                  <a:lnTo>
                    <a:pt x="19194" y="5390053"/>
                  </a:lnTo>
                  <a:cubicBezTo>
                    <a:pt x="8593" y="5390053"/>
                    <a:pt x="0" y="5381460"/>
                    <a:pt x="0" y="5370859"/>
                  </a:cubicBezTo>
                  <a:lnTo>
                    <a:pt x="0" y="19194"/>
                  </a:lnTo>
                  <a:cubicBezTo>
                    <a:pt x="0" y="8593"/>
                    <a:pt x="8593" y="0"/>
                    <a:pt x="1919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694572" cy="53043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4415737"/>
            <a:ext cx="18288000" cy="5692140"/>
          </a:xfrm>
          <a:custGeom>
            <a:avLst/>
            <a:gdLst/>
            <a:ahLst/>
            <a:cxnLst/>
            <a:rect r="r" b="b" t="t" l="l"/>
            <a:pathLst>
              <a:path h="5692140" w="18288000">
                <a:moveTo>
                  <a:pt x="0" y="0"/>
                </a:moveTo>
                <a:lnTo>
                  <a:pt x="18288000" y="0"/>
                </a:lnTo>
                <a:lnTo>
                  <a:pt x="18288000" y="5692140"/>
                </a:lnTo>
                <a:lnTo>
                  <a:pt x="0" y="5692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28735" y="889298"/>
            <a:ext cx="15815777" cy="943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12"/>
              </a:lnSpc>
            </a:pPr>
            <a:r>
              <a:rPr lang="en-US" sz="7200" spc="-590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Ранжування країн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17135" y="2300181"/>
            <a:ext cx="4998733" cy="1417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100" spc="126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У</a:t>
            </a:r>
            <a:r>
              <a:rPr lang="en-US" b="true" sz="2100" spc="126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кожн</a:t>
            </a:r>
            <a:r>
              <a:rPr lang="en-US" b="true" sz="2100" spc="126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ому році обчислено: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 spc="126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інтегральний індекс;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 spc="126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місце країни у рейтингу (rank).</a:t>
            </a:r>
          </a:p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2123968"/>
            <a:ext cx="5442670" cy="1769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35"/>
              </a:lnSpc>
              <a:spcBef>
                <a:spcPct val="0"/>
              </a:spcBef>
            </a:pPr>
            <a:r>
              <a:rPr lang="en-US" b="true" sz="2100" spc="126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Це</a:t>
            </a:r>
            <a:r>
              <a:rPr lang="en-US" b="true" sz="2100" spc="126" u="none">
                <a:solidFill>
                  <a:srgbClr val="4FA678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дозволяє: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 spc="126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визначити лідерів та аутсайдерів;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 spc="126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оцінити динаміку країни;</a:t>
            </a:r>
          </a:p>
          <a:p>
            <a:pPr algn="l" marL="453390" indent="-226695" lvl="1">
              <a:lnSpc>
                <a:spcPts val="2835"/>
              </a:lnSpc>
              <a:buFont typeface="Arial"/>
              <a:buChar char="•"/>
            </a:pPr>
            <a:r>
              <a:rPr lang="en-US" sz="2100" spc="126" u="none">
                <a:solidFill>
                  <a:srgbClr val="4FA678"/>
                </a:solidFill>
                <a:latin typeface="Public Sans"/>
                <a:ea typeface="Public Sans"/>
                <a:cs typeface="Public Sans"/>
                <a:sym typeface="Public Sans"/>
              </a:rPr>
              <a:t>порівнювати рівні економічної стійкості.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87448" y="1819852"/>
            <a:ext cx="15313104" cy="8156180"/>
            <a:chOff x="0" y="0"/>
            <a:chExt cx="4033081" cy="21481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33081" cy="2148130"/>
            </a:xfrm>
            <a:custGeom>
              <a:avLst/>
              <a:gdLst/>
              <a:ahLst/>
              <a:cxnLst/>
              <a:rect r="r" b="b" t="t" l="l"/>
              <a:pathLst>
                <a:path h="2148130" w="4033081">
                  <a:moveTo>
                    <a:pt x="7584" y="0"/>
                  </a:moveTo>
                  <a:lnTo>
                    <a:pt x="4025497" y="0"/>
                  </a:lnTo>
                  <a:cubicBezTo>
                    <a:pt x="4027509" y="0"/>
                    <a:pt x="4029437" y="799"/>
                    <a:pt x="4030860" y="2221"/>
                  </a:cubicBezTo>
                  <a:cubicBezTo>
                    <a:pt x="4032282" y="3643"/>
                    <a:pt x="4033081" y="5572"/>
                    <a:pt x="4033081" y="7584"/>
                  </a:cubicBezTo>
                  <a:lnTo>
                    <a:pt x="4033081" y="2140546"/>
                  </a:lnTo>
                  <a:cubicBezTo>
                    <a:pt x="4033081" y="2142557"/>
                    <a:pt x="4032282" y="2144486"/>
                    <a:pt x="4030860" y="2145909"/>
                  </a:cubicBezTo>
                  <a:cubicBezTo>
                    <a:pt x="4029437" y="2147331"/>
                    <a:pt x="4027509" y="2148130"/>
                    <a:pt x="4025497" y="2148130"/>
                  </a:cubicBezTo>
                  <a:lnTo>
                    <a:pt x="7584" y="2148130"/>
                  </a:lnTo>
                  <a:cubicBezTo>
                    <a:pt x="5572" y="2148130"/>
                    <a:pt x="3643" y="2147331"/>
                    <a:pt x="2221" y="2145909"/>
                  </a:cubicBezTo>
                  <a:cubicBezTo>
                    <a:pt x="799" y="2144486"/>
                    <a:pt x="0" y="2142557"/>
                    <a:pt x="0" y="2140546"/>
                  </a:cubicBezTo>
                  <a:lnTo>
                    <a:pt x="0" y="7584"/>
                  </a:lnTo>
                  <a:cubicBezTo>
                    <a:pt x="0" y="5572"/>
                    <a:pt x="799" y="3643"/>
                    <a:pt x="2221" y="2221"/>
                  </a:cubicBezTo>
                  <a:cubicBezTo>
                    <a:pt x="3643" y="799"/>
                    <a:pt x="5572" y="0"/>
                    <a:pt x="758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033081" cy="2062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160154" y="2187774"/>
            <a:ext cx="13967691" cy="7420336"/>
          </a:xfrm>
          <a:custGeom>
            <a:avLst/>
            <a:gdLst/>
            <a:ahLst/>
            <a:cxnLst/>
            <a:rect r="r" b="b" t="t" l="l"/>
            <a:pathLst>
              <a:path h="7420336" w="13967691">
                <a:moveTo>
                  <a:pt x="0" y="0"/>
                </a:moveTo>
                <a:lnTo>
                  <a:pt x="13967692" y="0"/>
                </a:lnTo>
                <a:lnTo>
                  <a:pt x="13967692" y="7420336"/>
                </a:lnTo>
                <a:lnTo>
                  <a:pt x="0" y="7420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160154" y="2187774"/>
            <a:ext cx="13967691" cy="7455255"/>
          </a:xfrm>
          <a:custGeom>
            <a:avLst/>
            <a:gdLst/>
            <a:ahLst/>
            <a:cxnLst/>
            <a:rect r="r" b="b" t="t" l="l"/>
            <a:pathLst>
              <a:path h="7455255" w="13967691">
                <a:moveTo>
                  <a:pt x="0" y="0"/>
                </a:moveTo>
                <a:lnTo>
                  <a:pt x="13967692" y="0"/>
                </a:lnTo>
                <a:lnTo>
                  <a:pt x="13967692" y="7455255"/>
                </a:lnTo>
                <a:lnTo>
                  <a:pt x="0" y="74552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371167" y="575310"/>
            <a:ext cx="11545666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Географічна</a:t>
            </a: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 візуалізація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4833" y="2186940"/>
            <a:ext cx="8426704" cy="7583153"/>
            <a:chOff x="0" y="0"/>
            <a:chExt cx="2219379" cy="199720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9379" cy="1997209"/>
            </a:xfrm>
            <a:custGeom>
              <a:avLst/>
              <a:gdLst/>
              <a:ahLst/>
              <a:cxnLst/>
              <a:rect r="r" b="b" t="t" l="l"/>
              <a:pathLst>
                <a:path h="1997209" w="2219379">
                  <a:moveTo>
                    <a:pt x="13781" y="0"/>
                  </a:moveTo>
                  <a:lnTo>
                    <a:pt x="2205598" y="0"/>
                  </a:lnTo>
                  <a:cubicBezTo>
                    <a:pt x="2213209" y="0"/>
                    <a:pt x="2219379" y="6170"/>
                    <a:pt x="2219379" y="13781"/>
                  </a:cubicBezTo>
                  <a:lnTo>
                    <a:pt x="2219379" y="1983428"/>
                  </a:lnTo>
                  <a:cubicBezTo>
                    <a:pt x="2219379" y="1991039"/>
                    <a:pt x="2213209" y="1997209"/>
                    <a:pt x="2205598" y="1997209"/>
                  </a:cubicBezTo>
                  <a:lnTo>
                    <a:pt x="13781" y="1997209"/>
                  </a:lnTo>
                  <a:cubicBezTo>
                    <a:pt x="6170" y="1997209"/>
                    <a:pt x="0" y="1991039"/>
                    <a:pt x="0" y="1983428"/>
                  </a:cubicBezTo>
                  <a:lnTo>
                    <a:pt x="0" y="13781"/>
                  </a:lnTo>
                  <a:cubicBezTo>
                    <a:pt x="0" y="6170"/>
                    <a:pt x="6170" y="0"/>
                    <a:pt x="13781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219379" cy="191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86463" y="2186940"/>
            <a:ext cx="8430288" cy="7583153"/>
            <a:chOff x="0" y="0"/>
            <a:chExt cx="2220323" cy="19972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20323" cy="1997209"/>
            </a:xfrm>
            <a:custGeom>
              <a:avLst/>
              <a:gdLst/>
              <a:ahLst/>
              <a:cxnLst/>
              <a:rect r="r" b="b" t="t" l="l"/>
              <a:pathLst>
                <a:path h="1997209" w="2220323">
                  <a:moveTo>
                    <a:pt x="13775" y="0"/>
                  </a:moveTo>
                  <a:lnTo>
                    <a:pt x="2206548" y="0"/>
                  </a:lnTo>
                  <a:cubicBezTo>
                    <a:pt x="2214156" y="0"/>
                    <a:pt x="2220323" y="6167"/>
                    <a:pt x="2220323" y="13775"/>
                  </a:cubicBezTo>
                  <a:lnTo>
                    <a:pt x="2220323" y="1983434"/>
                  </a:lnTo>
                  <a:cubicBezTo>
                    <a:pt x="2220323" y="1991041"/>
                    <a:pt x="2214156" y="1997209"/>
                    <a:pt x="2206548" y="1997209"/>
                  </a:cubicBezTo>
                  <a:lnTo>
                    <a:pt x="13775" y="1997209"/>
                  </a:lnTo>
                  <a:cubicBezTo>
                    <a:pt x="10122" y="1997209"/>
                    <a:pt x="6618" y="1995758"/>
                    <a:pt x="4035" y="1993174"/>
                  </a:cubicBezTo>
                  <a:cubicBezTo>
                    <a:pt x="1451" y="1990591"/>
                    <a:pt x="0" y="1987087"/>
                    <a:pt x="0" y="1983434"/>
                  </a:cubicBezTo>
                  <a:lnTo>
                    <a:pt x="0" y="13775"/>
                  </a:lnTo>
                  <a:cubicBezTo>
                    <a:pt x="0" y="6167"/>
                    <a:pt x="6167" y="0"/>
                    <a:pt x="1377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2220323" cy="1911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18161" y="3471303"/>
            <a:ext cx="8140048" cy="5998609"/>
          </a:xfrm>
          <a:custGeom>
            <a:avLst/>
            <a:gdLst/>
            <a:ahLst/>
            <a:cxnLst/>
            <a:rect r="r" b="b" t="t" l="l"/>
            <a:pathLst>
              <a:path h="5998609" w="8140048">
                <a:moveTo>
                  <a:pt x="0" y="0"/>
                </a:moveTo>
                <a:lnTo>
                  <a:pt x="8140048" y="0"/>
                </a:lnTo>
                <a:lnTo>
                  <a:pt x="8140048" y="5998609"/>
                </a:lnTo>
                <a:lnTo>
                  <a:pt x="0" y="5998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402775" y="3471303"/>
            <a:ext cx="8197665" cy="5998609"/>
          </a:xfrm>
          <a:custGeom>
            <a:avLst/>
            <a:gdLst/>
            <a:ahLst/>
            <a:cxnLst/>
            <a:rect r="r" b="b" t="t" l="l"/>
            <a:pathLst>
              <a:path h="5998609" w="8197665">
                <a:moveTo>
                  <a:pt x="0" y="0"/>
                </a:moveTo>
                <a:lnTo>
                  <a:pt x="8197665" y="0"/>
                </a:lnTo>
                <a:lnTo>
                  <a:pt x="8197665" y="5998609"/>
                </a:lnTo>
                <a:lnTo>
                  <a:pt x="0" y="59986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12916" y="597413"/>
            <a:ext cx="12862169" cy="984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96"/>
              </a:lnSpc>
            </a:pPr>
            <a:r>
              <a:rPr lang="en-US" b="true" sz="7600" spc="-623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</a:t>
            </a:r>
            <a:r>
              <a:rPr lang="en-US" b="true" sz="7600" spc="-623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op-10 країн Bottom-10 країн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83749" y="1524392"/>
            <a:ext cx="3558267" cy="55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4"/>
              </a:lnSpc>
              <a:spcBef>
                <a:spcPct val="0"/>
              </a:spcBef>
            </a:pPr>
            <a:r>
              <a:rPr lang="en-US" b="true" sz="3299" spc="197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T</a:t>
            </a:r>
            <a:r>
              <a:rPr lang="en-US" b="true" sz="3299" spc="197" u="non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op-10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23519" y="1524392"/>
            <a:ext cx="3558267" cy="55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54"/>
              </a:lnSpc>
              <a:spcBef>
                <a:spcPct val="0"/>
              </a:spcBef>
            </a:pPr>
            <a:r>
              <a:rPr lang="en-US" b="true" sz="3299" spc="197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Bott</a:t>
            </a:r>
            <a:r>
              <a:rPr lang="en-US" b="true" sz="3299" spc="197" u="non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om-10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03952" y="2471178"/>
            <a:ext cx="7568466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1999" spc="119">
                <a:solidFill>
                  <a:srgbClr val="CDEDD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Характерні риси:</a:t>
            </a:r>
            <a:r>
              <a:rPr lang="en-US" b="true" sz="1999" spc="119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</a:t>
            </a:r>
            <a:r>
              <a:rPr lang="en-US" b="true" sz="1999" spc="119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високі доходи, низькі соціальні ризики, стабільний борг, активні інвестиційні потоки.</a:t>
            </a:r>
          </a:p>
          <a:p>
            <a:pPr algn="ctr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9552089" y="2304491"/>
            <a:ext cx="7899036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99"/>
              </a:lnSpc>
            </a:pPr>
            <a:r>
              <a:rPr lang="en-US" b="true" sz="1999" spc="119">
                <a:solidFill>
                  <a:srgbClr val="CDEDD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Характерні риси: </a:t>
            </a:r>
            <a:r>
              <a:rPr lang="en-US" b="true" sz="1999" spc="119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низькі доходи; макрофінансова нестабільність; високі борги; низька інвестиційна привабливість; слабка інтеграція у світову торгівлю.</a:t>
            </a:r>
          </a:p>
          <a:p>
            <a:pPr algn="ctr" marL="0" indent="0" lvl="0">
              <a:lnSpc>
                <a:spcPts val="26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4693784" y="-4626414"/>
            <a:ext cx="8101982" cy="21724847"/>
            <a:chOff x="0" y="0"/>
            <a:chExt cx="2269176" cy="608462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9176" cy="6084622"/>
            </a:xfrm>
            <a:custGeom>
              <a:avLst/>
              <a:gdLst/>
              <a:ahLst/>
              <a:cxnLst/>
              <a:rect r="r" b="b" t="t" l="l"/>
              <a:pathLst>
                <a:path h="6084622" w="2269176">
                  <a:moveTo>
                    <a:pt x="14333" y="0"/>
                  </a:moveTo>
                  <a:lnTo>
                    <a:pt x="2254842" y="0"/>
                  </a:lnTo>
                  <a:cubicBezTo>
                    <a:pt x="2262758" y="0"/>
                    <a:pt x="2269176" y="6417"/>
                    <a:pt x="2269176" y="14333"/>
                  </a:cubicBezTo>
                  <a:lnTo>
                    <a:pt x="2269176" y="6070288"/>
                  </a:lnTo>
                  <a:cubicBezTo>
                    <a:pt x="2269176" y="6078204"/>
                    <a:pt x="2262758" y="6084622"/>
                    <a:pt x="2254842" y="6084622"/>
                  </a:cubicBezTo>
                  <a:lnTo>
                    <a:pt x="14333" y="6084622"/>
                  </a:lnTo>
                  <a:cubicBezTo>
                    <a:pt x="6417" y="6084622"/>
                    <a:pt x="0" y="6078204"/>
                    <a:pt x="0" y="6070288"/>
                  </a:cubicBezTo>
                  <a:lnTo>
                    <a:pt x="0" y="14333"/>
                  </a:lnTo>
                  <a:cubicBezTo>
                    <a:pt x="0" y="6417"/>
                    <a:pt x="6417" y="0"/>
                    <a:pt x="14333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2269176" cy="59988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21959" y="2770966"/>
            <a:ext cx="8822041" cy="6603928"/>
          </a:xfrm>
          <a:custGeom>
            <a:avLst/>
            <a:gdLst/>
            <a:ahLst/>
            <a:cxnLst/>
            <a:rect r="r" b="b" t="t" l="l"/>
            <a:pathLst>
              <a:path h="6603928" w="8822041">
                <a:moveTo>
                  <a:pt x="0" y="0"/>
                </a:moveTo>
                <a:lnTo>
                  <a:pt x="8822041" y="0"/>
                </a:lnTo>
                <a:lnTo>
                  <a:pt x="8822041" y="6603928"/>
                </a:lnTo>
                <a:lnTo>
                  <a:pt x="0" y="66039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298326" y="2770966"/>
            <a:ext cx="8826282" cy="6603928"/>
          </a:xfrm>
          <a:custGeom>
            <a:avLst/>
            <a:gdLst/>
            <a:ahLst/>
            <a:cxnLst/>
            <a:rect r="r" b="b" t="t" l="l"/>
            <a:pathLst>
              <a:path h="6603928" w="8826282">
                <a:moveTo>
                  <a:pt x="0" y="0"/>
                </a:moveTo>
                <a:lnTo>
                  <a:pt x="8826282" y="0"/>
                </a:lnTo>
                <a:lnTo>
                  <a:pt x="8826282" y="6603928"/>
                </a:lnTo>
                <a:lnTo>
                  <a:pt x="0" y="6603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80871" y="668106"/>
            <a:ext cx="13726259" cy="1097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59"/>
              </a:lnSpc>
            </a:pPr>
            <a:r>
              <a:rPr lang="en-US" sz="8499" spc="-696" b="true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Профіль індикаторів країни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77753" y="516605"/>
            <a:ext cx="8347329" cy="1478793"/>
            <a:chOff x="0" y="0"/>
            <a:chExt cx="4840278" cy="8574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40278" cy="857492"/>
            </a:xfrm>
            <a:custGeom>
              <a:avLst/>
              <a:gdLst/>
              <a:ahLst/>
              <a:cxnLst/>
              <a:rect r="r" b="b" t="t" l="l"/>
              <a:pathLst>
                <a:path h="857492" w="4840278">
                  <a:moveTo>
                    <a:pt x="13912" y="0"/>
                  </a:moveTo>
                  <a:lnTo>
                    <a:pt x="4826366" y="0"/>
                  </a:lnTo>
                  <a:cubicBezTo>
                    <a:pt x="4830056" y="0"/>
                    <a:pt x="4833594" y="1466"/>
                    <a:pt x="4836203" y="4075"/>
                  </a:cubicBezTo>
                  <a:cubicBezTo>
                    <a:pt x="4838812" y="6684"/>
                    <a:pt x="4840278" y="10222"/>
                    <a:pt x="4840278" y="13912"/>
                  </a:cubicBezTo>
                  <a:lnTo>
                    <a:pt x="4840278" y="843580"/>
                  </a:lnTo>
                  <a:cubicBezTo>
                    <a:pt x="4840278" y="847270"/>
                    <a:pt x="4838812" y="850809"/>
                    <a:pt x="4836203" y="853418"/>
                  </a:cubicBezTo>
                  <a:cubicBezTo>
                    <a:pt x="4833594" y="856027"/>
                    <a:pt x="4830056" y="857492"/>
                    <a:pt x="4826366" y="857492"/>
                  </a:cubicBezTo>
                  <a:lnTo>
                    <a:pt x="13912" y="857492"/>
                  </a:lnTo>
                  <a:cubicBezTo>
                    <a:pt x="10222" y="857492"/>
                    <a:pt x="6684" y="856027"/>
                    <a:pt x="4075" y="853418"/>
                  </a:cubicBezTo>
                  <a:cubicBezTo>
                    <a:pt x="1466" y="850809"/>
                    <a:pt x="0" y="847270"/>
                    <a:pt x="0" y="843580"/>
                  </a:cubicBezTo>
                  <a:lnTo>
                    <a:pt x="0" y="13912"/>
                  </a:lnTo>
                  <a:cubicBezTo>
                    <a:pt x="0" y="10222"/>
                    <a:pt x="1466" y="6684"/>
                    <a:pt x="4075" y="4075"/>
                  </a:cubicBezTo>
                  <a:cubicBezTo>
                    <a:pt x="6684" y="1466"/>
                    <a:pt x="10222" y="0"/>
                    <a:pt x="13912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4840278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666371" y="787050"/>
            <a:ext cx="3284256" cy="167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income_z</a:t>
            </a:r>
          </a:p>
          <a:p>
            <a:pPr algn="l">
              <a:lnSpc>
                <a:spcPts val="3264"/>
              </a:lnSpc>
            </a:pP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~</a:t>
            </a: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0.952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9477753" y="2070772"/>
            <a:ext cx="8347329" cy="1478793"/>
            <a:chOff x="0" y="0"/>
            <a:chExt cx="4840278" cy="85749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40278" cy="857492"/>
            </a:xfrm>
            <a:custGeom>
              <a:avLst/>
              <a:gdLst/>
              <a:ahLst/>
              <a:cxnLst/>
              <a:rect r="r" b="b" t="t" l="l"/>
              <a:pathLst>
                <a:path h="857492" w="4840278">
                  <a:moveTo>
                    <a:pt x="13912" y="0"/>
                  </a:moveTo>
                  <a:lnTo>
                    <a:pt x="4826366" y="0"/>
                  </a:lnTo>
                  <a:cubicBezTo>
                    <a:pt x="4830056" y="0"/>
                    <a:pt x="4833594" y="1466"/>
                    <a:pt x="4836203" y="4075"/>
                  </a:cubicBezTo>
                  <a:cubicBezTo>
                    <a:pt x="4838812" y="6684"/>
                    <a:pt x="4840278" y="10222"/>
                    <a:pt x="4840278" y="13912"/>
                  </a:cubicBezTo>
                  <a:lnTo>
                    <a:pt x="4840278" y="843580"/>
                  </a:lnTo>
                  <a:cubicBezTo>
                    <a:pt x="4840278" y="847270"/>
                    <a:pt x="4838812" y="850809"/>
                    <a:pt x="4836203" y="853418"/>
                  </a:cubicBezTo>
                  <a:cubicBezTo>
                    <a:pt x="4833594" y="856027"/>
                    <a:pt x="4830056" y="857492"/>
                    <a:pt x="4826366" y="857492"/>
                  </a:cubicBezTo>
                  <a:lnTo>
                    <a:pt x="13912" y="857492"/>
                  </a:lnTo>
                  <a:cubicBezTo>
                    <a:pt x="10222" y="857492"/>
                    <a:pt x="6684" y="856027"/>
                    <a:pt x="4075" y="853418"/>
                  </a:cubicBezTo>
                  <a:cubicBezTo>
                    <a:pt x="1466" y="850809"/>
                    <a:pt x="0" y="847270"/>
                    <a:pt x="0" y="843580"/>
                  </a:cubicBezTo>
                  <a:lnTo>
                    <a:pt x="0" y="13912"/>
                  </a:lnTo>
                  <a:cubicBezTo>
                    <a:pt x="0" y="10222"/>
                    <a:pt x="1466" y="6684"/>
                    <a:pt x="4075" y="4075"/>
                  </a:cubicBezTo>
                  <a:cubicBezTo>
                    <a:pt x="6684" y="1466"/>
                    <a:pt x="10222" y="0"/>
                    <a:pt x="13912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4840278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477753" y="3626549"/>
            <a:ext cx="8347329" cy="1478793"/>
            <a:chOff x="0" y="0"/>
            <a:chExt cx="4840278" cy="8574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40278" cy="857492"/>
            </a:xfrm>
            <a:custGeom>
              <a:avLst/>
              <a:gdLst/>
              <a:ahLst/>
              <a:cxnLst/>
              <a:rect r="r" b="b" t="t" l="l"/>
              <a:pathLst>
                <a:path h="857492" w="4840278">
                  <a:moveTo>
                    <a:pt x="13912" y="0"/>
                  </a:moveTo>
                  <a:lnTo>
                    <a:pt x="4826366" y="0"/>
                  </a:lnTo>
                  <a:cubicBezTo>
                    <a:pt x="4830056" y="0"/>
                    <a:pt x="4833594" y="1466"/>
                    <a:pt x="4836203" y="4075"/>
                  </a:cubicBezTo>
                  <a:cubicBezTo>
                    <a:pt x="4838812" y="6684"/>
                    <a:pt x="4840278" y="10222"/>
                    <a:pt x="4840278" y="13912"/>
                  </a:cubicBezTo>
                  <a:lnTo>
                    <a:pt x="4840278" y="843580"/>
                  </a:lnTo>
                  <a:cubicBezTo>
                    <a:pt x="4840278" y="847270"/>
                    <a:pt x="4838812" y="850809"/>
                    <a:pt x="4836203" y="853418"/>
                  </a:cubicBezTo>
                  <a:cubicBezTo>
                    <a:pt x="4833594" y="856027"/>
                    <a:pt x="4830056" y="857492"/>
                    <a:pt x="4826366" y="857492"/>
                  </a:cubicBezTo>
                  <a:lnTo>
                    <a:pt x="13912" y="857492"/>
                  </a:lnTo>
                  <a:cubicBezTo>
                    <a:pt x="10222" y="857492"/>
                    <a:pt x="6684" y="856027"/>
                    <a:pt x="4075" y="853418"/>
                  </a:cubicBezTo>
                  <a:cubicBezTo>
                    <a:pt x="1466" y="850809"/>
                    <a:pt x="0" y="847270"/>
                    <a:pt x="0" y="843580"/>
                  </a:cubicBezTo>
                  <a:lnTo>
                    <a:pt x="0" y="13912"/>
                  </a:lnTo>
                  <a:cubicBezTo>
                    <a:pt x="0" y="10222"/>
                    <a:pt x="1466" y="6684"/>
                    <a:pt x="4075" y="4075"/>
                  </a:cubicBezTo>
                  <a:cubicBezTo>
                    <a:pt x="6684" y="1466"/>
                    <a:pt x="10222" y="0"/>
                    <a:pt x="13912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85725"/>
              <a:ext cx="4840278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666371" y="2339212"/>
            <a:ext cx="3162544" cy="167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lending_z</a:t>
            </a:r>
          </a:p>
          <a:p>
            <a:pPr algn="l">
              <a:lnSpc>
                <a:spcPts val="3264"/>
              </a:lnSpc>
            </a:pP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~</a:t>
            </a: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0.947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9666371" y="3961875"/>
            <a:ext cx="2454885" cy="167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trade_z</a:t>
            </a:r>
          </a:p>
          <a:p>
            <a:pPr algn="l">
              <a:lnSpc>
                <a:spcPts val="3264"/>
              </a:lnSpc>
            </a:pP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~</a:t>
            </a: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0.943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2680321" y="616875"/>
            <a:ext cx="4928826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Найбільш</a:t>
            </a:r>
            <a:r>
              <a:rPr lang="en-US" b="true" sz="2400" spc="144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структурний індикатор, визначає рівень розвитку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0605" y="2107355"/>
            <a:ext cx="5108542" cy="1640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Відображає</a:t>
            </a:r>
            <a:r>
              <a:rPr lang="en-US" b="true" sz="2400" spc="144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доступність кредитування та фінансову довіру</a:t>
            </a:r>
          </a:p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680321" y="3931606"/>
            <a:ext cx="492882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Показує</a:t>
            </a:r>
            <a:r>
              <a:rPr lang="en-US" b="true" sz="2400" spc="144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інтеграцію у світову економіку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12073" y="951462"/>
            <a:ext cx="7182476" cy="1668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7"/>
              </a:lnSpc>
            </a:pPr>
            <a:r>
              <a:rPr lang="en-US" sz="6622" spc="-543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Важливість кожного індикатора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12073" y="2572530"/>
            <a:ext cx="7360829" cy="6896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175" spc="13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Для оцінки внеску </a:t>
            </a:r>
            <a:r>
              <a:rPr lang="en-US" b="true" sz="2175" spc="130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кожен індикатор</a:t>
            </a:r>
            <a:r>
              <a:rPr lang="en-US" b="true" sz="2175" spc="130" u="non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по черзі виключався з моделі, після чого перебудовувався новий індекс, і вимірювалась його кореляція з базовою моделлю.</a:t>
            </a:r>
          </a:p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175" spc="130" u="non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Основні результати:</a:t>
            </a:r>
          </a:p>
          <a:p>
            <a:pPr algn="l" marL="469705" indent="-234853" lvl="1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5" spc="130" u="none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Income group</a:t>
            </a:r>
            <a:r>
              <a:rPr lang="en-US" b="true" sz="2175" spc="130" u="non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— один із найвпливовіших індикаторів; його вилучення найбільше знижує узгодженість індексу.</a:t>
            </a:r>
          </a:p>
          <a:p>
            <a:pPr algn="l" marL="469705" indent="-234853" lvl="1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5" spc="130" u="none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Lending category</a:t>
            </a:r>
            <a:r>
              <a:rPr lang="en-US" b="true" sz="2175" spc="130" u="non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також має сильний внесок, бо відображає рівень кредитоспроможності країни.</a:t>
            </a:r>
          </a:p>
          <a:p>
            <a:pPr algn="l" marL="469705" indent="-234853" lvl="1">
              <a:lnSpc>
                <a:spcPts val="2937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175" spc="130" u="none">
                <a:solidFill>
                  <a:srgbClr val="3A855D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Trade та unemployment_rev</a:t>
            </a:r>
            <a:r>
              <a:rPr lang="en-US" b="true" sz="2175" spc="130" u="non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показали помірний вплив: вони важливі, але їх вилучення менш критичне.</a:t>
            </a:r>
          </a:p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  <a:r>
              <a:rPr lang="en-US" b="true" sz="2175" spc="130" u="none">
                <a:solidFill>
                  <a:srgbClr val="3A855D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FDI та government debt (rev) виявилися найменш чутливими — їхній внесок є вагомим, але менш структуроутворюючим, ніж у доходів та кредитного класу.</a:t>
            </a:r>
          </a:p>
          <a:p>
            <a:pPr algn="l" marL="0" indent="0" lvl="0">
              <a:lnSpc>
                <a:spcPts val="2937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9477753" y="5181657"/>
            <a:ext cx="8347329" cy="1478793"/>
            <a:chOff x="0" y="0"/>
            <a:chExt cx="4840278" cy="85749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840278" cy="857492"/>
            </a:xfrm>
            <a:custGeom>
              <a:avLst/>
              <a:gdLst/>
              <a:ahLst/>
              <a:cxnLst/>
              <a:rect r="r" b="b" t="t" l="l"/>
              <a:pathLst>
                <a:path h="857492" w="4840278">
                  <a:moveTo>
                    <a:pt x="13912" y="0"/>
                  </a:moveTo>
                  <a:lnTo>
                    <a:pt x="4826366" y="0"/>
                  </a:lnTo>
                  <a:cubicBezTo>
                    <a:pt x="4830056" y="0"/>
                    <a:pt x="4833594" y="1466"/>
                    <a:pt x="4836203" y="4075"/>
                  </a:cubicBezTo>
                  <a:cubicBezTo>
                    <a:pt x="4838812" y="6684"/>
                    <a:pt x="4840278" y="10222"/>
                    <a:pt x="4840278" y="13912"/>
                  </a:cubicBezTo>
                  <a:lnTo>
                    <a:pt x="4840278" y="843580"/>
                  </a:lnTo>
                  <a:cubicBezTo>
                    <a:pt x="4840278" y="847270"/>
                    <a:pt x="4838812" y="850809"/>
                    <a:pt x="4836203" y="853418"/>
                  </a:cubicBezTo>
                  <a:cubicBezTo>
                    <a:pt x="4833594" y="856027"/>
                    <a:pt x="4830056" y="857492"/>
                    <a:pt x="4826366" y="857492"/>
                  </a:cubicBezTo>
                  <a:lnTo>
                    <a:pt x="13912" y="857492"/>
                  </a:lnTo>
                  <a:cubicBezTo>
                    <a:pt x="10222" y="857492"/>
                    <a:pt x="6684" y="856027"/>
                    <a:pt x="4075" y="853418"/>
                  </a:cubicBezTo>
                  <a:cubicBezTo>
                    <a:pt x="1466" y="850809"/>
                    <a:pt x="0" y="847270"/>
                    <a:pt x="0" y="843580"/>
                  </a:cubicBezTo>
                  <a:lnTo>
                    <a:pt x="0" y="13912"/>
                  </a:lnTo>
                  <a:cubicBezTo>
                    <a:pt x="0" y="10222"/>
                    <a:pt x="1466" y="6684"/>
                    <a:pt x="4075" y="4075"/>
                  </a:cubicBezTo>
                  <a:cubicBezTo>
                    <a:pt x="6684" y="1466"/>
                    <a:pt x="10222" y="0"/>
                    <a:pt x="13912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85725"/>
              <a:ext cx="4840278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666371" y="5448243"/>
            <a:ext cx="4250298" cy="167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4"/>
              </a:lnSpc>
            </a:pP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unemployment_z_rev</a:t>
            </a:r>
          </a:p>
          <a:p>
            <a:pPr algn="l">
              <a:lnSpc>
                <a:spcPts val="3264"/>
              </a:lnSpc>
            </a:pP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~</a:t>
            </a:r>
            <a:r>
              <a:rPr lang="en-US" sz="3400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0.942</a:t>
            </a:r>
          </a:p>
          <a:p>
            <a:pPr algn="l">
              <a:lnSpc>
                <a:spcPts val="3264"/>
              </a:lnSpc>
            </a:pPr>
          </a:p>
          <a:p>
            <a:pPr algn="l">
              <a:lnSpc>
                <a:spcPts val="3264"/>
              </a:lnSpc>
            </a:pPr>
          </a:p>
        </p:txBody>
      </p:sp>
      <p:grpSp>
        <p:nvGrpSpPr>
          <p:cNvPr name="Group 23" id="23"/>
          <p:cNvGrpSpPr/>
          <p:nvPr/>
        </p:nvGrpSpPr>
        <p:grpSpPr>
          <a:xfrm rot="0">
            <a:off x="9477753" y="6735824"/>
            <a:ext cx="8347329" cy="1478793"/>
            <a:chOff x="0" y="0"/>
            <a:chExt cx="4840278" cy="8574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40278" cy="857492"/>
            </a:xfrm>
            <a:custGeom>
              <a:avLst/>
              <a:gdLst/>
              <a:ahLst/>
              <a:cxnLst/>
              <a:rect r="r" b="b" t="t" l="l"/>
              <a:pathLst>
                <a:path h="857492" w="4840278">
                  <a:moveTo>
                    <a:pt x="13912" y="0"/>
                  </a:moveTo>
                  <a:lnTo>
                    <a:pt x="4826366" y="0"/>
                  </a:lnTo>
                  <a:cubicBezTo>
                    <a:pt x="4830056" y="0"/>
                    <a:pt x="4833594" y="1466"/>
                    <a:pt x="4836203" y="4075"/>
                  </a:cubicBezTo>
                  <a:cubicBezTo>
                    <a:pt x="4838812" y="6684"/>
                    <a:pt x="4840278" y="10222"/>
                    <a:pt x="4840278" y="13912"/>
                  </a:cubicBezTo>
                  <a:lnTo>
                    <a:pt x="4840278" y="843580"/>
                  </a:lnTo>
                  <a:cubicBezTo>
                    <a:pt x="4840278" y="847270"/>
                    <a:pt x="4838812" y="850809"/>
                    <a:pt x="4836203" y="853418"/>
                  </a:cubicBezTo>
                  <a:cubicBezTo>
                    <a:pt x="4833594" y="856027"/>
                    <a:pt x="4830056" y="857492"/>
                    <a:pt x="4826366" y="857492"/>
                  </a:cubicBezTo>
                  <a:lnTo>
                    <a:pt x="13912" y="857492"/>
                  </a:lnTo>
                  <a:cubicBezTo>
                    <a:pt x="10222" y="857492"/>
                    <a:pt x="6684" y="856027"/>
                    <a:pt x="4075" y="853418"/>
                  </a:cubicBezTo>
                  <a:cubicBezTo>
                    <a:pt x="1466" y="850809"/>
                    <a:pt x="0" y="847270"/>
                    <a:pt x="0" y="843580"/>
                  </a:cubicBezTo>
                  <a:lnTo>
                    <a:pt x="0" y="13912"/>
                  </a:lnTo>
                  <a:cubicBezTo>
                    <a:pt x="0" y="10222"/>
                    <a:pt x="1466" y="6684"/>
                    <a:pt x="4075" y="4075"/>
                  </a:cubicBezTo>
                  <a:cubicBezTo>
                    <a:pt x="6684" y="1466"/>
                    <a:pt x="10222" y="0"/>
                    <a:pt x="13912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85725"/>
              <a:ext cx="4840278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477753" y="8291601"/>
            <a:ext cx="8347329" cy="1478793"/>
            <a:chOff x="0" y="0"/>
            <a:chExt cx="4840278" cy="8574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840278" cy="857492"/>
            </a:xfrm>
            <a:custGeom>
              <a:avLst/>
              <a:gdLst/>
              <a:ahLst/>
              <a:cxnLst/>
              <a:rect r="r" b="b" t="t" l="l"/>
              <a:pathLst>
                <a:path h="857492" w="4840278">
                  <a:moveTo>
                    <a:pt x="13912" y="0"/>
                  </a:moveTo>
                  <a:lnTo>
                    <a:pt x="4826366" y="0"/>
                  </a:lnTo>
                  <a:cubicBezTo>
                    <a:pt x="4830056" y="0"/>
                    <a:pt x="4833594" y="1466"/>
                    <a:pt x="4836203" y="4075"/>
                  </a:cubicBezTo>
                  <a:cubicBezTo>
                    <a:pt x="4838812" y="6684"/>
                    <a:pt x="4840278" y="10222"/>
                    <a:pt x="4840278" y="13912"/>
                  </a:cubicBezTo>
                  <a:lnTo>
                    <a:pt x="4840278" y="843580"/>
                  </a:lnTo>
                  <a:cubicBezTo>
                    <a:pt x="4840278" y="847270"/>
                    <a:pt x="4838812" y="850809"/>
                    <a:pt x="4836203" y="853418"/>
                  </a:cubicBezTo>
                  <a:cubicBezTo>
                    <a:pt x="4833594" y="856027"/>
                    <a:pt x="4830056" y="857492"/>
                    <a:pt x="4826366" y="857492"/>
                  </a:cubicBezTo>
                  <a:lnTo>
                    <a:pt x="13912" y="857492"/>
                  </a:lnTo>
                  <a:cubicBezTo>
                    <a:pt x="10222" y="857492"/>
                    <a:pt x="6684" y="856027"/>
                    <a:pt x="4075" y="853418"/>
                  </a:cubicBezTo>
                  <a:cubicBezTo>
                    <a:pt x="1466" y="850809"/>
                    <a:pt x="0" y="847270"/>
                    <a:pt x="0" y="843580"/>
                  </a:cubicBezTo>
                  <a:lnTo>
                    <a:pt x="0" y="13912"/>
                  </a:lnTo>
                  <a:cubicBezTo>
                    <a:pt x="0" y="10222"/>
                    <a:pt x="1466" y="6684"/>
                    <a:pt x="4075" y="4075"/>
                  </a:cubicBezTo>
                  <a:cubicBezTo>
                    <a:pt x="6684" y="1466"/>
                    <a:pt x="10222" y="0"/>
                    <a:pt x="13912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85725"/>
              <a:ext cx="4840278" cy="7717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9666371" y="7073099"/>
            <a:ext cx="2834234" cy="167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3399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gov_debt_z_rev</a:t>
            </a:r>
          </a:p>
          <a:p>
            <a:pPr algn="l">
              <a:lnSpc>
                <a:spcPts val="3263"/>
              </a:lnSpc>
            </a:pPr>
            <a:r>
              <a:rPr lang="en-US" sz="3399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~</a:t>
            </a:r>
            <a:r>
              <a:rPr lang="en-US" sz="3399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0.941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9666371" y="8624192"/>
            <a:ext cx="2411539" cy="167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3399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fdi_z</a:t>
            </a:r>
          </a:p>
          <a:p>
            <a:pPr algn="l">
              <a:lnSpc>
                <a:spcPts val="3263"/>
              </a:lnSpc>
            </a:pPr>
            <a:r>
              <a:rPr lang="en-US" sz="3399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~</a:t>
            </a:r>
            <a:r>
              <a:rPr lang="en-US" sz="3399" spc="-278">
                <a:solidFill>
                  <a:srgbClr val="F1F0EC"/>
                </a:solidFill>
                <a:latin typeface="Public Sans"/>
                <a:ea typeface="Public Sans"/>
                <a:cs typeface="Public Sans"/>
                <a:sym typeface="Public Sans"/>
              </a:rPr>
              <a:t>0.941</a:t>
            </a:r>
          </a:p>
          <a:p>
            <a:pPr algn="l">
              <a:lnSpc>
                <a:spcPts val="3263"/>
              </a:lnSpc>
            </a:pPr>
          </a:p>
          <a:p>
            <a:pPr algn="l">
              <a:lnSpc>
                <a:spcPts val="3263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13651417" y="5486714"/>
            <a:ext cx="3957729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Соціальна</a:t>
            </a:r>
            <a:r>
              <a:rPr lang="en-US" b="true" sz="2400" spc="144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стабільність, стан ринку праці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680321" y="7022401"/>
            <a:ext cx="4928826" cy="821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Боргова</a:t>
            </a:r>
            <a:r>
              <a:rPr lang="en-US" b="true" sz="2400" spc="144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стійкість, але менш домінуюча у моделі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680321" y="8391870"/>
            <a:ext cx="4928826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Вклад</a:t>
            </a:r>
            <a:r>
              <a:rPr lang="en-US" b="true" sz="2400" spc="144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інвестицій значущий, але найменший серед індикаторів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49338" y="783793"/>
            <a:ext cx="7053250" cy="315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Аналіз чутливості моделі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649338" y="4090873"/>
            <a:ext cx="7413945" cy="4986938"/>
            <a:chOff x="0" y="0"/>
            <a:chExt cx="2076473" cy="13967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76473" cy="1396725"/>
            </a:xfrm>
            <a:custGeom>
              <a:avLst/>
              <a:gdLst/>
              <a:ahLst/>
              <a:cxnLst/>
              <a:rect r="r" b="b" t="t" l="l"/>
              <a:pathLst>
                <a:path h="1396725" w="2076473">
                  <a:moveTo>
                    <a:pt x="15664" y="0"/>
                  </a:moveTo>
                  <a:lnTo>
                    <a:pt x="2060809" y="0"/>
                  </a:lnTo>
                  <a:cubicBezTo>
                    <a:pt x="2069460" y="0"/>
                    <a:pt x="2076473" y="7013"/>
                    <a:pt x="2076473" y="15664"/>
                  </a:cubicBezTo>
                  <a:lnTo>
                    <a:pt x="2076473" y="1381061"/>
                  </a:lnTo>
                  <a:cubicBezTo>
                    <a:pt x="2076473" y="1389712"/>
                    <a:pt x="2069460" y="1396725"/>
                    <a:pt x="2060809" y="1396725"/>
                  </a:cubicBezTo>
                  <a:lnTo>
                    <a:pt x="15664" y="1396725"/>
                  </a:lnTo>
                  <a:cubicBezTo>
                    <a:pt x="7013" y="1396725"/>
                    <a:pt x="0" y="1389712"/>
                    <a:pt x="0" y="1381061"/>
                  </a:cubicBezTo>
                  <a:lnTo>
                    <a:pt x="0" y="15664"/>
                  </a:lnTo>
                  <a:cubicBezTo>
                    <a:pt x="0" y="7013"/>
                    <a:pt x="7013" y="0"/>
                    <a:pt x="15664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85725"/>
              <a:ext cx="2076473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224509" y="4090873"/>
            <a:ext cx="7414153" cy="4986938"/>
            <a:chOff x="0" y="0"/>
            <a:chExt cx="2076531" cy="13967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6531" cy="1396725"/>
            </a:xfrm>
            <a:custGeom>
              <a:avLst/>
              <a:gdLst/>
              <a:ahLst/>
              <a:cxnLst/>
              <a:rect r="r" b="b" t="t" l="l"/>
              <a:pathLst>
                <a:path h="1396725" w="2076531">
                  <a:moveTo>
                    <a:pt x="15663" y="0"/>
                  </a:moveTo>
                  <a:lnTo>
                    <a:pt x="2060868" y="0"/>
                  </a:lnTo>
                  <a:cubicBezTo>
                    <a:pt x="2069518" y="0"/>
                    <a:pt x="2076531" y="7013"/>
                    <a:pt x="2076531" y="15663"/>
                  </a:cubicBezTo>
                  <a:lnTo>
                    <a:pt x="2076531" y="1381062"/>
                  </a:lnTo>
                  <a:cubicBezTo>
                    <a:pt x="2076531" y="1389712"/>
                    <a:pt x="2069518" y="1396725"/>
                    <a:pt x="2060868" y="1396725"/>
                  </a:cubicBezTo>
                  <a:lnTo>
                    <a:pt x="15663" y="1396725"/>
                  </a:lnTo>
                  <a:cubicBezTo>
                    <a:pt x="7013" y="1396725"/>
                    <a:pt x="0" y="1389712"/>
                    <a:pt x="0" y="1381062"/>
                  </a:cubicBezTo>
                  <a:lnTo>
                    <a:pt x="0" y="15663"/>
                  </a:lnTo>
                  <a:cubicBezTo>
                    <a:pt x="0" y="7013"/>
                    <a:pt x="7013" y="0"/>
                    <a:pt x="15663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85725"/>
              <a:ext cx="2076531" cy="1311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67406" y="4962435"/>
            <a:ext cx="6535182" cy="332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99" spc="167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100</a:t>
            </a:r>
            <a:r>
              <a:rPr lang="en-US" b="true" sz="2799" spc="16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варіацій випадкових ваг:</a:t>
            </a:r>
          </a:p>
          <a:p>
            <a:pPr algn="just" marL="604519" indent="-302260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16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Min = 0.992</a:t>
            </a:r>
          </a:p>
          <a:p>
            <a:pPr algn="just" marL="604519" indent="-302260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16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Median = 0.9968</a:t>
            </a:r>
          </a:p>
          <a:p>
            <a:pPr algn="just" marL="604519" indent="-302260" lvl="1">
              <a:lnSpc>
                <a:spcPts val="377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799" spc="16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Max = 0.9994</a:t>
            </a:r>
          </a:p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99" spc="16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Індекс надзвичайно стабільний.</a:t>
            </a:r>
          </a:p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99" spc="16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Зміна ваг не впливає суттєво на рейтинг.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85412" y="4896512"/>
            <a:ext cx="6786055" cy="332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79"/>
              </a:lnSpc>
            </a:pPr>
            <a:r>
              <a:rPr lang="en-US" b="true" sz="2799" spc="167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Моделі:</a:t>
            </a:r>
          </a:p>
          <a:p>
            <a:pPr algn="just" marL="604519" indent="-302260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b="true" sz="2799" spc="167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Si</a:t>
            </a:r>
            <a:r>
              <a:rPr lang="en-US" b="true" sz="2799" spc="16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mple Index (середнє нормалізованих показників)</a:t>
            </a:r>
          </a:p>
          <a:p>
            <a:pPr algn="just" marL="604519" indent="-302260" lvl="1">
              <a:lnSpc>
                <a:spcPts val="3779"/>
              </a:lnSpc>
              <a:spcBef>
                <a:spcPct val="0"/>
              </a:spcBef>
              <a:buAutoNum type="arabicPeriod" startAt="1"/>
            </a:pPr>
            <a:r>
              <a:rPr lang="en-US" b="true" sz="2799" spc="167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Weighted Index (ваги = рівні)</a:t>
            </a:r>
          </a:p>
          <a:p>
            <a:pPr algn="just" marL="0" indent="0" lvl="0">
              <a:lnSpc>
                <a:spcPts val="3779"/>
              </a:lnSpc>
              <a:spcBef>
                <a:spcPct val="0"/>
              </a:spcBef>
            </a:pPr>
            <a:r>
              <a:rPr lang="en-US" b="true" sz="2799" spc="167" u="none">
                <a:solidFill>
                  <a:srgbClr val="CDEDD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Кореляція між індексами = 0.504, моделі повʼязані, але зчитують різні аспекти безпеки.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85412" y="783793"/>
            <a:ext cx="7053250" cy="3154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59"/>
              </a:lnSpc>
            </a:pPr>
            <a:r>
              <a:rPr lang="en-US" sz="8499" spc="-696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Порівняння моделей індексів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124623"/>
            <a:ext cx="5380132" cy="8037755"/>
            <a:chOff x="0" y="0"/>
            <a:chExt cx="1506849" cy="22511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06849" cy="2251187"/>
            </a:xfrm>
            <a:custGeom>
              <a:avLst/>
              <a:gdLst/>
              <a:ahLst/>
              <a:cxnLst/>
              <a:rect r="r" b="b" t="t" l="l"/>
              <a:pathLst>
                <a:path h="2251187" w="1506849">
                  <a:moveTo>
                    <a:pt x="21585" y="0"/>
                  </a:moveTo>
                  <a:lnTo>
                    <a:pt x="1485264" y="0"/>
                  </a:lnTo>
                  <a:cubicBezTo>
                    <a:pt x="1497185" y="0"/>
                    <a:pt x="1506849" y="9664"/>
                    <a:pt x="1506849" y="21585"/>
                  </a:cubicBezTo>
                  <a:lnTo>
                    <a:pt x="1506849" y="2229602"/>
                  </a:lnTo>
                  <a:cubicBezTo>
                    <a:pt x="1506849" y="2235327"/>
                    <a:pt x="1504575" y="2240817"/>
                    <a:pt x="1500527" y="2244865"/>
                  </a:cubicBezTo>
                  <a:cubicBezTo>
                    <a:pt x="1496479" y="2248913"/>
                    <a:pt x="1490989" y="2251187"/>
                    <a:pt x="1485264" y="2251187"/>
                  </a:cubicBezTo>
                  <a:lnTo>
                    <a:pt x="21585" y="2251187"/>
                  </a:lnTo>
                  <a:cubicBezTo>
                    <a:pt x="15860" y="2251187"/>
                    <a:pt x="10370" y="2248913"/>
                    <a:pt x="6322" y="2244865"/>
                  </a:cubicBezTo>
                  <a:cubicBezTo>
                    <a:pt x="2274" y="2240817"/>
                    <a:pt x="0" y="2235327"/>
                    <a:pt x="0" y="2229602"/>
                  </a:cubicBezTo>
                  <a:lnTo>
                    <a:pt x="0" y="21585"/>
                  </a:lnTo>
                  <a:cubicBezTo>
                    <a:pt x="0" y="15860"/>
                    <a:pt x="2274" y="10370"/>
                    <a:pt x="6322" y="6322"/>
                  </a:cubicBezTo>
                  <a:cubicBezTo>
                    <a:pt x="10370" y="2274"/>
                    <a:pt x="15860" y="0"/>
                    <a:pt x="21585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85725"/>
              <a:ext cx="1506849" cy="2165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878255" y="1124623"/>
            <a:ext cx="5377140" cy="8037755"/>
            <a:chOff x="0" y="0"/>
            <a:chExt cx="1506011" cy="2251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06011" cy="2251187"/>
            </a:xfrm>
            <a:custGeom>
              <a:avLst/>
              <a:gdLst/>
              <a:ahLst/>
              <a:cxnLst/>
              <a:rect r="r" b="b" t="t" l="l"/>
              <a:pathLst>
                <a:path h="2251187" w="1506011">
                  <a:moveTo>
                    <a:pt x="21597" y="0"/>
                  </a:moveTo>
                  <a:lnTo>
                    <a:pt x="1484415" y="0"/>
                  </a:lnTo>
                  <a:cubicBezTo>
                    <a:pt x="1490142" y="0"/>
                    <a:pt x="1495636" y="2275"/>
                    <a:pt x="1499686" y="6326"/>
                  </a:cubicBezTo>
                  <a:cubicBezTo>
                    <a:pt x="1503736" y="10376"/>
                    <a:pt x="1506011" y="15869"/>
                    <a:pt x="1506011" y="21597"/>
                  </a:cubicBezTo>
                  <a:lnTo>
                    <a:pt x="1506011" y="2229590"/>
                  </a:lnTo>
                  <a:cubicBezTo>
                    <a:pt x="1506011" y="2235318"/>
                    <a:pt x="1503736" y="2240811"/>
                    <a:pt x="1499686" y="2244862"/>
                  </a:cubicBezTo>
                  <a:cubicBezTo>
                    <a:pt x="1495636" y="2248912"/>
                    <a:pt x="1490142" y="2251187"/>
                    <a:pt x="1484415" y="2251187"/>
                  </a:cubicBezTo>
                  <a:lnTo>
                    <a:pt x="21597" y="2251187"/>
                  </a:lnTo>
                  <a:cubicBezTo>
                    <a:pt x="15869" y="2251187"/>
                    <a:pt x="10376" y="2248912"/>
                    <a:pt x="6326" y="2244862"/>
                  </a:cubicBezTo>
                  <a:cubicBezTo>
                    <a:pt x="2275" y="2240811"/>
                    <a:pt x="0" y="2235318"/>
                    <a:pt x="0" y="2229590"/>
                  </a:cubicBezTo>
                  <a:lnTo>
                    <a:pt x="0" y="21597"/>
                  </a:lnTo>
                  <a:cubicBezTo>
                    <a:pt x="0" y="15869"/>
                    <a:pt x="2275" y="10376"/>
                    <a:pt x="6326" y="6326"/>
                  </a:cubicBezTo>
                  <a:cubicBezTo>
                    <a:pt x="10376" y="2275"/>
                    <a:pt x="15869" y="0"/>
                    <a:pt x="21597" y="0"/>
                  </a:cubicBez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5725"/>
              <a:ext cx="1506011" cy="21654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2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8467595" y="2218373"/>
            <a:ext cx="1352836" cy="1444777"/>
          </a:xfrm>
          <a:custGeom>
            <a:avLst/>
            <a:gdLst/>
            <a:ahLst/>
            <a:cxnLst/>
            <a:rect r="r" b="b" t="t" l="l"/>
            <a:pathLst>
              <a:path h="1444777" w="1352836">
                <a:moveTo>
                  <a:pt x="0" y="0"/>
                </a:moveTo>
                <a:lnTo>
                  <a:pt x="1352836" y="0"/>
                </a:lnTo>
                <a:lnTo>
                  <a:pt x="1352836" y="1444776"/>
                </a:lnTo>
                <a:lnTo>
                  <a:pt x="0" y="14447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408845" y="4331970"/>
            <a:ext cx="5470336" cy="176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7000" spc="-574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Основні висновки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7924234" y="6621780"/>
            <a:ext cx="2439559" cy="496783"/>
          </a:xfrm>
          <a:custGeom>
            <a:avLst/>
            <a:gdLst/>
            <a:ahLst/>
            <a:cxnLst/>
            <a:rect r="r" b="b" t="t" l="l"/>
            <a:pathLst>
              <a:path h="496783" w="2439559">
                <a:moveTo>
                  <a:pt x="0" y="0"/>
                </a:moveTo>
                <a:lnTo>
                  <a:pt x="2439559" y="0"/>
                </a:lnTo>
                <a:lnTo>
                  <a:pt x="2439559" y="496783"/>
                </a:lnTo>
                <a:lnTo>
                  <a:pt x="0" y="496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618704" y="1637348"/>
            <a:ext cx="4200123" cy="6964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2" indent="-259081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Побудовано</a:t>
            </a: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 індекс із 6 індикаторів.</a:t>
            </a:r>
          </a:p>
          <a:p>
            <a:pPr algn="l" marL="518162" indent="-259081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Проаналізовано понад 190 країн.</a:t>
            </a:r>
          </a:p>
          <a:p>
            <a:pPr algn="l" marL="518162" indent="-259081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PCA підтвердило логічну структуру індикаторів.</a:t>
            </a:r>
          </a:p>
          <a:p>
            <a:pPr algn="l" marL="518162" indent="-259081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Отримано результати, що відображають реальну економічну ситуацію.</a:t>
            </a:r>
          </a:p>
          <a:p>
            <a:pPr algn="l" marL="518162" indent="-259081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Зроблено оцінку стійкості моделі.</a:t>
            </a:r>
          </a:p>
          <a:p>
            <a:pPr algn="l" marL="518162" indent="-259081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Створений інтерактивний dashboard.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92090" y="2661285"/>
            <a:ext cx="3549470" cy="491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b="true" sz="2400" spc="144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Індекс</a:t>
            </a:r>
            <a:r>
              <a:rPr lang="en-US" b="true" sz="2400" spc="144" u="none">
                <a:solidFill>
                  <a:srgbClr val="F1F0EC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 можна застосовувати для:</a:t>
            </a:r>
          </a:p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моніторингу економічної стабільності;</a:t>
            </a:r>
          </a:p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міжнародних порівнянь;</a:t>
            </a:r>
          </a:p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аналізу ризиків;</a:t>
            </a:r>
          </a:p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побудови рейтингів;</a:t>
            </a:r>
          </a:p>
          <a:p>
            <a:pPr algn="l" marL="518160" indent="-259080" lvl="1">
              <a:lnSpc>
                <a:spcPts val="3240"/>
              </a:lnSpc>
              <a:buFont typeface="Arial"/>
              <a:buChar char="•"/>
            </a:pPr>
            <a:r>
              <a:rPr lang="en-US" b="true" sz="2400" spc="144" u="none">
                <a:solidFill>
                  <a:srgbClr val="F1F0EC"/>
                </a:solidFill>
                <a:latin typeface="Public Sans Medium"/>
                <a:ea typeface="Public Sans Medium"/>
                <a:cs typeface="Public Sans Medium"/>
                <a:sym typeface="Public Sans Medium"/>
              </a:rPr>
              <a:t>дослідження впливу політик.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33924" y="6971250"/>
            <a:ext cx="21755848" cy="4174349"/>
            <a:chOff x="0" y="0"/>
            <a:chExt cx="7796805" cy="149599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96805" cy="1495993"/>
            </a:xfrm>
            <a:custGeom>
              <a:avLst/>
              <a:gdLst/>
              <a:ahLst/>
              <a:cxnLst/>
              <a:rect r="r" b="b" t="t" l="l"/>
              <a:pathLst>
                <a:path h="1495993" w="7796805">
                  <a:moveTo>
                    <a:pt x="0" y="0"/>
                  </a:moveTo>
                  <a:lnTo>
                    <a:pt x="7796805" y="0"/>
                  </a:lnTo>
                  <a:lnTo>
                    <a:pt x="7796805" y="1495993"/>
                  </a:lnTo>
                  <a:lnTo>
                    <a:pt x="0" y="1495993"/>
                  </a:lnTo>
                  <a:close/>
                </a:path>
              </a:pathLst>
            </a:custGeom>
            <a:solidFill>
              <a:srgbClr val="3A855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7796805" cy="1524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908245" y="5376693"/>
            <a:ext cx="20104489" cy="5523017"/>
          </a:xfrm>
          <a:custGeom>
            <a:avLst/>
            <a:gdLst/>
            <a:ahLst/>
            <a:cxnLst/>
            <a:rect r="r" b="b" t="t" l="l"/>
            <a:pathLst>
              <a:path h="5523017" w="20104489">
                <a:moveTo>
                  <a:pt x="0" y="0"/>
                </a:moveTo>
                <a:lnTo>
                  <a:pt x="20104490" y="0"/>
                </a:lnTo>
                <a:lnTo>
                  <a:pt x="20104490" y="5523017"/>
                </a:lnTo>
                <a:lnTo>
                  <a:pt x="0" y="55230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4363" r="-9035" b="-2056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597139" y="1892358"/>
            <a:ext cx="11093721" cy="3707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83"/>
              </a:lnSpc>
            </a:pPr>
            <a:r>
              <a:rPr lang="en-US" sz="15957" spc="-1308">
                <a:solidFill>
                  <a:srgbClr val="3A855D"/>
                </a:solidFill>
                <a:latin typeface="Public Sans"/>
                <a:ea typeface="Public Sans"/>
                <a:cs typeface="Public Sans"/>
                <a:sym typeface="Public Sans"/>
              </a:rPr>
              <a:t>Дякуємо за увагу!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6914402" y="3224371"/>
            <a:ext cx="1703043" cy="2771224"/>
          </a:xfrm>
          <a:custGeom>
            <a:avLst/>
            <a:gdLst/>
            <a:ahLst/>
            <a:cxnLst/>
            <a:rect r="r" b="b" t="t" l="l"/>
            <a:pathLst>
              <a:path h="2771224" w="1703043">
                <a:moveTo>
                  <a:pt x="0" y="0"/>
                </a:moveTo>
                <a:lnTo>
                  <a:pt x="1703043" y="0"/>
                </a:lnTo>
                <a:lnTo>
                  <a:pt x="1703043" y="2771224"/>
                </a:lnTo>
                <a:lnTo>
                  <a:pt x="0" y="27712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7392287">
            <a:off x="-1104276" y="-395603"/>
            <a:ext cx="3383874" cy="2848607"/>
          </a:xfrm>
          <a:custGeom>
            <a:avLst/>
            <a:gdLst/>
            <a:ahLst/>
            <a:cxnLst/>
            <a:rect r="r" b="b" t="t" l="l"/>
            <a:pathLst>
              <a:path h="2848607" w="3383874">
                <a:moveTo>
                  <a:pt x="0" y="0"/>
                </a:moveTo>
                <a:lnTo>
                  <a:pt x="3383875" y="0"/>
                </a:lnTo>
                <a:lnTo>
                  <a:pt x="3383875" y="2848606"/>
                </a:lnTo>
                <a:lnTo>
                  <a:pt x="0" y="28486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DAG6-HIVp4c</dc:identifier>
  <dcterms:modified xsi:type="dcterms:W3CDTF">2011-08-01T06:04:30Z</dcterms:modified>
  <cp:revision>1</cp:revision>
  <dc:title>Оцінка рівня економічної безпеки країн світу</dc:title>
</cp:coreProperties>
</file>